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 for Healthcare Compliance &amp; Regulations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4C8E6"/>
                </a:solidFill>
                <a:latin typeface="Calibri"/>
              </a:defRPr>
            </a:pPr>
            <a:r>
              <a:t>A Literature Review and Interactive Dashboard Across 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B4D2"/>
                </a:solidFill>
                <a:latin typeface="Calibri"/>
              </a:defRPr>
            </a:pPr>
            <a:r>
              <a:t>Supervisor: Dr. Anuradha 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CA0BE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1.  Project Overview &amp; Objectives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2.  Methodology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3.  Global Regulatory Landscape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4.  Key Themes in AI Healthcare Compliance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5.  Comparative Analysis Across Regions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6.  Country-Wise Compliance Scores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7.  Global Trends &amp; Timeline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8.  Ethical Considerations &amp; Gaps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9.  Interactive Dashboard Demo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Calibri"/>
              </a:defRPr>
            </a:pPr>
            <a:r>
              <a:t>10. Conclusions &amp;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64"/>
                </a:solidFill>
                <a:latin typeface="Calibri"/>
              </a:defRPr>
            </a:pPr>
            <a:r>
              <a:t>Artificial Intelligence is transforming healthcare through diagnostics, clinical decision support, drug discovery, and patient management. However, adoption is governed by complex regulatory frameworks that vary widely across countries.</a:t>
            </a:r>
            <a:br/>
            <a:br/>
            <a:r>
              <a:t>This project conducts a systematic literature review of AI healthcare regulations and translates insights into an interactive dashboard for comparing country-wise compliance.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5C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- Conduct structured literature review of AI healthcare regulations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- Identify key themes: data privacy, validation, transparency, ethics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- Map regulatory differences across 20 countries in 6 regions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- Build interactive dashboard for cross-country comparison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- Highlight gaps between innovation and patient safety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Databases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463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64"/>
                </a:solidFill>
                <a:latin typeface="Calibri"/>
              </a:defRPr>
            </a:pPr>
            <a:r>
              <a:t>PubMed, Scopus, IEEE Xplore, Google Scholar, SSRN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Regulatory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64"/>
                </a:solidFill>
                <a:latin typeface="Calibri"/>
              </a:defRPr>
            </a:pPr>
            <a:r>
              <a:t>FDA, EMA, MHRA, NMPA, WHO, OECD, national agencies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Search 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43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64"/>
                </a:solidFill>
                <a:latin typeface="Calibri"/>
              </a:defRPr>
            </a:pPr>
            <a:r>
              <a:t>AI healthcare regulation, SaMD compliance, health data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Inclusion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3832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64"/>
                </a:solidFill>
                <a:latin typeface="Calibri"/>
              </a:defRPr>
            </a:pPr>
            <a:r>
              <a:t>Publications 2018-2026 on AI regulation in healthcare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023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64"/>
                </a:solidFill>
                <a:latin typeface="Calibri"/>
              </a:defRPr>
            </a:pPr>
            <a:r>
              <a:t>20 countries across 6 regions (North America, Europe, Asia, Middle East, Africa, Oceania)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663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64"/>
                </a:solidFill>
                <a:latin typeface="Calibri"/>
              </a:defRPr>
            </a:pPr>
            <a:r>
              <a:t>Thematic synthesis with 7 compliance dimensions scored 1-10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Global Regulatory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USA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FDA SaMD Action Plan, HIPAA, NIST AI RMF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950+ AI devices approved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EU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EU AI Act + MDR + GDPR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World's first comprehensive AI 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MHRA Pro-innovation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AI Safety Institute established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China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NMPA + PIPL + Algorithm Regulations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83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First to regulate algorithmic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Japan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PMDA DASH Framework, APPI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IDATEN regulatory sandbox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Canada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Health Canada + GMLP Principles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Co-developed GMLP with FDA &amp; MHRA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696A0"/>
                </a:solidFill>
                <a:latin typeface="Calibri"/>
              </a:defRPr>
            </a:pPr>
            <a:r>
              <a:t>Near-universal adoption of risk-based SaMD classification influenced by IMDRF framework. Post-GDPR wave of comprehensive data protection laws globally.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Seven Key Themes in AI Healthcare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1. Data Privacy &amp;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14630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GDPR, HIPAA, PIPL, LGPD - protecting health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2. Clinical Validation &amp;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1031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Evidence requirements, GMLP, bias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3. Regulatory Approval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7432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Risk-based classification, SaMD pathways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4. Algorithmic 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383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Explainability mandates, right to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5. Ethical Considerations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0233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Fairness, accountability, human oversight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6. Post-Market Surveillance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6634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Lifecycle monitoring, adverse event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03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B3A5C"/>
                </a:solidFill>
                <a:latin typeface="Calibri"/>
              </a:defRPr>
            </a:pPr>
            <a:r>
              <a:t>7. Liability &amp; Accountability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3035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Product liability, AI causation, burden of proof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Theme Deep-Dive: Data Privacy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64"/>
                </a:solidFill>
                <a:latin typeface="Calibri"/>
              </a:defRPr>
            </a:pPr>
            <a:r>
              <a:t>GDPR has catalyzed a global wave of data protection legislation. Health data is classified as sensitive in virtually all frameworks.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EU - GDPR (2018)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377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64"/>
                </a:solidFill>
                <a:latin typeface="Calibri"/>
              </a:defRPr>
            </a:pPr>
            <a:r>
              <a:t>Gold standard. Right to explanation (Art. 22). DPIAs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US - HIPAA (1996)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926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64"/>
                </a:solidFill>
                <a:latin typeface="Calibri"/>
              </a:defRPr>
            </a:pPr>
            <a:r>
              <a:t>Sector-specific. PHI safeguards. No general right to explanation.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China - PIPL (2021)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474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64"/>
                </a:solidFill>
                <a:latin typeface="Calibri"/>
              </a:defRPr>
            </a:pPr>
            <a:r>
              <a:t>Strict consent + cross-border transfer rules. Data localization.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India - DPDP Act (2023)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023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64"/>
                </a:solidFill>
                <a:latin typeface="Calibri"/>
              </a:defRPr>
            </a:pPr>
            <a:r>
              <a:t>Consent-based. Health data = sensitive. Emerging framework.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Brazil - LGPD (2020)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572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64"/>
                </a:solidFill>
                <a:latin typeface="Calibri"/>
              </a:defRPr>
            </a:pPr>
            <a:r>
              <a:t>GDPR-modeled. Health data sensitive. ANPD enforcement.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3A5C"/>
                </a:solidFill>
                <a:latin typeface="Calibri"/>
              </a:defRPr>
            </a:pPr>
            <a:r>
              <a:t>S. Africa - POPIA (2021)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1206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64"/>
                </a:solidFill>
                <a:latin typeface="Calibri"/>
              </a:defRPr>
            </a:pPr>
            <a:r>
              <a:t>Comprehensive. Special personal information category.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Theme Deep-Dive: Clinical Validation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- Three levels: Analytical validation, Clinical validation, Clinical utility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- FDA + Health Canada + MHRA published Good Machine Learning Practice (GMLP) - 10 guiding principles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- Growing acceptance of Real-World Evidence (RWE) for AI device evaluation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- Germany's DiGA: world's first pathway for prescribed digital therapies reimbursed by insurance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- Known bias risks: reduced accuracy on darker skin (dermatology AI), demographic disparities in chest X-rays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- EU AI Act mandates representative datasets, bias monitoring, and documentation</a:t>
            </a:r>
          </a:p>
          <a:p>
            <a:pPr>
              <a:spcAft>
                <a:spcPts val="1200"/>
              </a:spcAft>
              <a:defRPr sz="1500">
                <a:solidFill>
                  <a:srgbClr val="1E1E1E"/>
                </a:solidFill>
                <a:latin typeface="Calibri"/>
              </a:defRPr>
            </a:pPr>
            <a:r>
              <a:t>- Continuous learning systems require lifecycle governance - FDA's Predetermined Change Control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Transparency &amp; Ethical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Algorithmic Transparency Spectrum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- EU AI Act: Legally mandated transparency for high-risk AI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- GDPR Art. 22: Right to meaningful info on automated decisions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- China: Algorithm filing and registration required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- USA/UK/Singapore: Voluntary guidance, sector-specific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Ethical Frameworks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- WHO 6 principles: autonomy, safety, transparency,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  accountability, equity, sustainability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- EU: Rights-based, human dignity centered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- China: Social harmony, collective benefit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- Africa: Ubuntu philosophy (communal ethics)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- Key gap: "ethics washing" - principles without enforcement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Comparative Regional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North America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3716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[Advanced]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64"/>
                </a:solidFill>
                <a:latin typeface="Calibri"/>
              </a:defRPr>
            </a:pPr>
            <a:r>
              <a:t>Innovation-friendly, risk-based. Largest # of AI device approvals. Fragmented privacy (HIPAA sector-specific). No comprehensive federal AI law (US).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Europe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[Advanced]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64"/>
                </a:solidFill>
                <a:latin typeface="Calibri"/>
              </a:defRPr>
            </a:pPr>
            <a:r>
              <a:t>Most comprehensive framework (AI Act + MDR + GDPR). Strongest data protection. Risk of over-regulation. Notified Body capacity constraints.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0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East 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2004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[Advanced]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64"/>
                </a:solidFill>
                <a:latin typeface="Calibri"/>
              </a:defRPr>
            </a:pPr>
            <a:r>
              <a:t>Government-driven strategies. High approval rates (South Korea). Algorithm-specific regulations (China). Data localization barriers.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Middle East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1148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AB308"/>
                </a:solidFill>
                <a:latin typeface="Calibri"/>
              </a:defRPr>
            </a:pPr>
            <a:r>
              <a:t>[Emerging]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64"/>
                </a:solidFill>
                <a:latin typeface="Calibri"/>
              </a:defRPr>
            </a:pPr>
            <a:r>
              <a:t>Ambitious AI strategies with massive investment. Israel = innovation hub. Regulatory maturity lagging ambitions.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Africa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029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  <a:latin typeface="Calibri"/>
              </a:defRPr>
            </a:pPr>
            <a:r>
              <a:t>[Early]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64"/>
                </a:solidFill>
                <a:latin typeface="Calibri"/>
              </a:defRPr>
            </a:pPr>
            <a:r>
              <a:t>Data protection laws preceding AI governance. Strong mobile health innovation. Severe capacity constraints. Basic healthcare access competes with innovation.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Country Compliance Scores (1-10)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64592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Country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371600"/>
            <a:ext cx="100584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Privacy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109728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109728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Approval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371600"/>
            <a:ext cx="128016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Transparency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371600"/>
            <a:ext cx="91440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Ethics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371600"/>
            <a:ext cx="100584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Post-Mkt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371600"/>
            <a:ext cx="100584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Liability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1371600"/>
            <a:ext cx="100584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Maturity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91640"/>
            <a:ext cx="164592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European Union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169164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69164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69164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691640"/>
            <a:ext cx="128016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691640"/>
            <a:ext cx="91440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169164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169164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169164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Advanced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01168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Germany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201168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201168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201168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0" y="201168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2011680"/>
            <a:ext cx="914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201168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201168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201168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Advanced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2331720"/>
            <a:ext cx="164592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United States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233172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233172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233172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0" y="2331720"/>
            <a:ext cx="128016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2331720"/>
            <a:ext cx="91440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80960" y="233172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233172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2640" y="233172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Advanced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265176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United Kingdom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265176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1840" y="265176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265176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265176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0" y="2651760"/>
            <a:ext cx="914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80960" y="265176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0" y="265176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40" y="265176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Advanced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2971800"/>
            <a:ext cx="164592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Canada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0" y="297180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297180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0" y="297180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0" y="2971800"/>
            <a:ext cx="128016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60" y="2971800"/>
            <a:ext cx="91440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297180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0" y="297180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92640" y="297180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Advanced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329184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Japan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29184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91840" y="329184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89120" y="329184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0" y="329184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66560" y="3291840"/>
            <a:ext cx="914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0" y="329184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86800" y="329184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92640" y="329184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Advanced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" y="3611880"/>
            <a:ext cx="164592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Singapore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0" y="361188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91840" y="361188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120" y="361188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0" y="3611880"/>
            <a:ext cx="128016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66560" y="3611880"/>
            <a:ext cx="91440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80960" y="361188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686800" y="361188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92640" y="361188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Advanced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0080" y="393192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Switzerland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0" y="393192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91840" y="393192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389120" y="393192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86400" y="393192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766560" y="3931920"/>
            <a:ext cx="914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680960" y="393192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686800" y="393192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92640" y="393192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Advanced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" y="4251960"/>
            <a:ext cx="164592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China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286000" y="425196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91840" y="425196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89120" y="425196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0" y="4251960"/>
            <a:ext cx="128016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66560" y="4251960"/>
            <a:ext cx="91440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680960" y="425196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86800" y="425196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92640" y="425196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Advanced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0080" y="457200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Australia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86000" y="457200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91840" y="457200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89120" y="457200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486400" y="45720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766560" y="4572000"/>
            <a:ext cx="914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680960" y="457200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686800" y="457200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692640" y="457200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Moderate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40080" y="4892040"/>
            <a:ext cx="164592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South Korea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0" y="489204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291840" y="489204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389120" y="489204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0" y="4892040"/>
            <a:ext cx="128016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766560" y="4892040"/>
            <a:ext cx="91440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680960" y="489204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686800" y="489204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692640" y="489204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Advanced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0080" y="521208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Israel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286000" y="521208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91840" y="521208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8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389120" y="521208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86400" y="521208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766560" y="5212080"/>
            <a:ext cx="914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680960" y="521208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6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686800" y="521208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92640" y="521208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Advanced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40080" y="5532120"/>
            <a:ext cx="164592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Brazil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286000" y="553212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7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291840" y="553212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389120" y="553212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486400" y="5532120"/>
            <a:ext cx="128016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766560" y="5532120"/>
            <a:ext cx="91440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680960" y="553212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686800" y="553212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692640" y="553212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Developi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40080" y="5852160"/>
            <a:ext cx="16459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UAE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286000" y="585216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291840" y="585216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389120" y="5852160"/>
            <a:ext cx="10972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486400" y="585216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766560" y="5852160"/>
            <a:ext cx="914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680960" y="585216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686800" y="585216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692640" y="5852160"/>
            <a:ext cx="10058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Emerging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40080" y="6172200"/>
            <a:ext cx="164592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900">
                <a:solidFill>
                  <a:srgbClr val="1E1E1E"/>
                </a:solidFill>
              </a:defRPr>
            </a:pPr>
            <a:r>
              <a:t>Saudi Arabia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286000" y="617220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291840" y="617220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389120" y="6172200"/>
            <a:ext cx="109728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486400" y="6172200"/>
            <a:ext cx="128016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766560" y="6172200"/>
            <a:ext cx="91440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5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680960" y="617220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686800" y="617220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3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692640" y="6172200"/>
            <a:ext cx="1005840" cy="320040"/>
          </a:xfrm>
          <a:prstGeom prst="rect">
            <a:avLst/>
          </a:prstGeom>
          <a:solidFill>
            <a:srgbClr val="F0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1E1E1E"/>
                </a:solidFill>
              </a:defRPr>
            </a:pPr>
            <a:r>
              <a:t>Emerging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Global Trends in AI Healthcare Regulation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Convergence on Risk-Based Regulation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4"/>
                </a:solidFill>
                <a:latin typeface="Calibri"/>
              </a:defRPr>
            </a:pPr>
            <a:r>
              <a:t>Most jurisdictions adopting risk-based classification of AI medical devices, influenced by IMDRF framework.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Comprehensive Data Protection Laws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4"/>
                </a:solidFill>
                <a:latin typeface="Calibri"/>
              </a:defRPr>
            </a:pPr>
            <a:r>
              <a:t>Post-GDPR wave of national data protection laws with health data as sensitive category.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AI-Specific Legislation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4"/>
                </a:solidFill>
                <a:latin typeface="Calibri"/>
              </a:defRPr>
            </a:pPr>
            <a:r>
              <a:t>Growing trend toward dedicated AI laws (EU AI Act leading, followed by Brazil, Canada, South Korea proposals).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B30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International Harmonization Efforts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4"/>
                </a:solidFill>
                <a:latin typeface="Calibri"/>
              </a:defRPr>
            </a:pPr>
            <a:r>
              <a:t>IMDRF, GMLP (FDA-Health Canada-MHRA), and WHO guidance driving convergence.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246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B30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Ethical AI Frameworks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4"/>
                </a:solidFill>
                <a:latin typeface="Calibri"/>
              </a:defRPr>
            </a:pPr>
            <a:r>
              <a:t>Proliferation of national AI ethics principles, mostly voluntary, increasingly being legislated.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Regulatory Sandboxes for Health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434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4"/>
                </a:solidFill>
                <a:latin typeface="Calibri"/>
              </a:defRPr>
            </a:pPr>
            <a:r>
              <a:t>Controlled testing environments for innovative AI devices before full regulatory compliance.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4434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Real-World Evidence Acceptance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4"/>
                </a:solidFill>
                <a:latin typeface="Calibri"/>
              </a:defRPr>
            </a:pPr>
            <a:r>
              <a:t>Growing regulatory acceptance of real-world data and evidence for AI device evaluation.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5029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B30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Adaptive Algorithm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623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4"/>
                </a:solidFill>
                <a:latin typeface="Calibri"/>
              </a:defRPr>
            </a:pPr>
            <a:r>
              <a:t>Frameworks for managing continuously learning AI systems (e.g., FDA Predetermined Change Control Plan).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5623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AI Adoption in Radiology and Digital Pathology Workflows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6217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4"/>
                </a:solidFill>
                <a:latin typeface="Calibri"/>
              </a:defRPr>
            </a:pPr>
            <a:r>
              <a:t>AI image analysis is increasingly deployed for triage and decision support in radiology and pathology, driving demand for clinical validation, transparency for clinicians, and post-deployment monitoring.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217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812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Genomic AI for Precision Medicine (Data Governance Focus)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6812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4"/>
                </a:solidFill>
                <a:latin typeface="Calibri"/>
              </a:defRPr>
            </a:pPr>
            <a:r>
              <a:t>Genomic interpretation and clinical decision support are expanding, with governance emphasizing privacy, representative datasets, and controlled cross-border data use.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812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B30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7406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AI-Augmented Drug Discovery and Clinical Development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7406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4"/>
                </a:solidFill>
                <a:latin typeface="Calibri"/>
              </a:defRPr>
            </a:pPr>
            <a:r>
              <a:t>AI supports discovery and development workflows and increasingly influences clinical evidence generation, increasing focus on documentation, auditability, and liability assumptions.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7406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B30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8001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Hospital Deployment of Clinical Decision Support (Workflow Integration)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8001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4"/>
                </a:solidFill>
                <a:latin typeface="Calibri"/>
              </a:defRPr>
            </a:pPr>
            <a:r>
              <a:t>Hospitals and clinics integrate AI into electronic workflows, making Total Product Lifecycle governance and user training central to safe deployment.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8001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8595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Public Health Surveillance and Outbreak Support with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8595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64"/>
                </a:solidFill>
                <a:latin typeface="Calibri"/>
              </a:defRPr>
            </a:pPr>
            <a:r>
              <a:t>AI systems are being explored for population-level surveillance and outbreak support, requiring accountability mechanisms because impacts extend beyond individual patients.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8595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AB308"/>
                </a:solidFill>
                <a:latin typeface="Calibri"/>
              </a:defRPr>
            </a:pPr>
            <a:r>
              <a:t>Medium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 Medical Device Approvals Worldwide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t>United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508760"/>
            <a:ext cx="731520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1463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950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56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t>European Union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901952"/>
            <a:ext cx="4620126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3366" y="185623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94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t>China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295144"/>
            <a:ext cx="2310063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3303" y="224942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426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t>United Kingdom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688336"/>
            <a:ext cx="1540042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03282" y="26426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0358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t>South Korea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081528"/>
            <a:ext cx="1540042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3282" y="303580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t>Germany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3474720"/>
            <a:ext cx="1386037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9277" y="3429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180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221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t>Japan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3867912"/>
            <a:ext cx="1155031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8271" y="38221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153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t>Canada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4261104"/>
            <a:ext cx="924025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87265" y="42153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120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085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t>Israel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4654296"/>
            <a:ext cx="770021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33261" y="46085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01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t>Switzerland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5047488"/>
            <a:ext cx="693018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56258" y="50017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t>Australia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5440680"/>
            <a:ext cx="616016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79256" y="5394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7881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1E1E"/>
                </a:solidFill>
                <a:latin typeface="Calibri"/>
              </a:defRPr>
            </a:pPr>
            <a:r>
              <a:t>Singapore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5833872"/>
            <a:ext cx="462012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5252" y="57881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3A5C"/>
                </a:solidFill>
                <a:latin typeface="Calibri"/>
              </a:defRPr>
            </a:pPr>
            <a:r>
              <a:t>60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Challenges &amp;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Regulatory Divide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Advanced economies have mature frameworks; developing nations face severe capacity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Adaptive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Continuously learning AI systems challenge point-in-time approval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Cross-Border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Data localization trends fragment international AI development and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83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Ethics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383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Proliferation of voluntary ethics principles without binding enforcement ("ethics washing")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Liability Uncertainty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023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Unclear allocation of responsibility when AI causes patient harm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Bias &amp; Fairness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663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AI systems can perpetuate/amplify healthcare disparities through biased training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03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Generative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303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Foundation models in healthcare create new regulatory questions beyond current SaMD frameworks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Interactive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64"/>
                </a:solidFill>
                <a:latin typeface="Calibri"/>
              </a:defRPr>
            </a:pPr>
            <a:r>
              <a:t>Built with Streamlit + Plotly - 6 interactive tabs: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World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103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Choropleth visualization with selectable metrics (scores, devices, year)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Country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6974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Side-by-side radar charts, bar charts, and regulatory overview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Theme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918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Heatmap, regional averages, and compliance gap analysis (leader vs laggard)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Global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8862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Regulatory adoption timeline, trend cards, device distribution by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Country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480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Deep-dive profiles with expandable sections for each regulatory 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0749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64"/>
                </a:solidFill>
                <a:latin typeface="Calibri"/>
              </a:defRPr>
            </a:pPr>
            <a:r>
              <a:t>Full review rendered within the dashboard with key 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3A5C"/>
                </a:solidFill>
                <a:latin typeface="Calibri"/>
              </a:defRPr>
            </a:pPr>
            <a:r>
              <a:t>Filters: Region | Maturity Level | Themes - fully interactive with hover, zoom, click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1.  Strengthen international harmonization through IMDRF and WHO coordination</a:t>
            </a:r>
          </a:p>
          <a:p>
            <a:pPr>
              <a:spcAft>
                <a:spcPts val="14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2.  Build regulatory capacity in developing countries via technical assistance</a:t>
            </a:r>
          </a:p>
          <a:p>
            <a:pPr>
              <a:spcAft>
                <a:spcPts val="14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3.  Develop AI-specific clinical evidence methodologies balancing rigor with speed</a:t>
            </a:r>
          </a:p>
          <a:p>
            <a:pPr>
              <a:spcAft>
                <a:spcPts val="14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4.  Operationalize ethical principles through concrete technical standards</a:t>
            </a:r>
          </a:p>
          <a:p>
            <a:pPr>
              <a:spcAft>
                <a:spcPts val="14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5.  Address liability frameworks proactively before AI harm cases proliferate</a:t>
            </a:r>
          </a:p>
          <a:p>
            <a:pPr>
              <a:spcAft>
                <a:spcPts val="14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6.  Create adaptive regulatory approaches for continuously learning systems</a:t>
            </a:r>
          </a:p>
          <a:p>
            <a:pPr>
              <a:spcAft>
                <a:spcPts val="14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7.  Ensure representative datasets and mandate subgroup performance analysis</a:t>
            </a:r>
          </a:p>
          <a:p>
            <a:pPr>
              <a:spcAft>
                <a:spcPts val="1400"/>
              </a:spcAft>
              <a:defRPr sz="1600">
                <a:solidFill>
                  <a:srgbClr val="1E1E1E"/>
                </a:solidFill>
                <a:latin typeface="Calibri"/>
              </a:defRPr>
            </a:pPr>
            <a:r>
              <a:t>8.  Balance innovation incentives with safety protections across jurisdictions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8D7EB"/>
                </a:solidFill>
                <a:latin typeface="Calibri"/>
              </a:defRPr>
            </a:pPr>
            <a:r>
              <a:t>The global regulatory landscape for AI in healthcare is characterized by rapid evolution, converging principles, and persistent diversity. Risk-based classification, comprehensive data protection, and ethical governance have emerged as near-universal themes. The EU AI Act represents a watershed moment. Success depends on balancing innovation with safety, strengthening harmonization, and ensuring adaptive frameworks.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B4D2"/>
                </a:solidFill>
                <a:latin typeface="Calibri"/>
              </a:defRPr>
            </a:pPr>
            <a:r>
              <a:t>Supervisor: Dr. Anuradha Kar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366F1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