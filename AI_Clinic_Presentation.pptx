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88952" cy="73152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5A045"/>
                </a:solidFill>
                <a:latin typeface="Calibri"/>
              </a:defRPr>
            </a:pPr>
            <a:r>
              <a:t>AI CLINIC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AI for Healthcare Compliance and Regulations Across Countries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8D4E8"/>
                </a:solidFill>
                <a:latin typeface="Calibri"/>
              </a:defRPr>
            </a:pPr>
            <a:r>
              <a:t>Interactive Dashboard and Comparative Regulatory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Remi Uttejitha ALLAM  ·  Baptiste Langlois  ·  Tong Li  ·  Darryl Towa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37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8B8D0"/>
                </a:solidFill>
                <a:latin typeface="Calibri"/>
              </a:defRPr>
            </a:pPr>
            <a:r>
              <a:t>Supervisor: Dr. Anuradha Kar  |  aivancity  |  Academic year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1. What is this project about?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2. Problem statement and objectives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3. Methodology pipeline (data → scores → dashboard)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4. Compliance scoring and maturity classes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5. Seven regulatory themes explained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6. Key results  -  tables and figures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7. Gaps, convergence, and recommendations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8. Future impact  -  how this work helps improve practice</a:t>
            </a:r>
          </a:p>
          <a:p>
            <a:pPr>
              <a:spcAft>
                <a:spcPts val="1200"/>
              </a:spcAft>
              <a:defRPr sz="1800">
                <a:solidFill>
                  <a:srgbClr val="2A2A2A"/>
                </a:solidFill>
                <a:latin typeface="Calibri"/>
              </a:defRPr>
            </a:pPr>
            <a:r>
              <a:t>9. Limitations and thank you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What is this project about?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4A"/>
                </a:solidFill>
                <a:latin typeface="Calibri"/>
              </a:defRPr>
            </a:pPr>
            <a:r>
              <a:t>AI Clinic compares how different countries regulate artificial intelligence in healthcare, and turns that comparison into an interactive dashboard and research report.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68880"/>
            <a:ext cx="2697480" cy="3566160"/>
          </a:xfrm>
          <a:prstGeom prst="roundRect">
            <a:avLst/>
          </a:prstGeom>
          <a:solidFill>
            <a:srgbClr val="F2F4F7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4D"/>
                </a:solidFill>
                <a:latin typeface="Calibri"/>
              </a:defRPr>
            </a:pPr>
            <a:r>
              <a:t>Literature synthesis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Policy and peer-reviewed sources on SaMD, privacy, ethics, and lifecycle governance (2018-2026).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468880"/>
            <a:ext cx="2697480" cy="3566160"/>
          </a:xfrm>
          <a:prstGeom prst="roundRect">
            <a:avLst/>
          </a:prstGeom>
          <a:solidFill>
            <a:srgbClr val="F2F4F7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6974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4D"/>
                </a:solidFill>
                <a:latin typeface="Calibri"/>
              </a:defRPr>
            </a:pPr>
            <a:r>
              <a:t>20-country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42900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Seven themes scored 1-10, maturity labels, device counts, challenges, and notable developments.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468880"/>
            <a:ext cx="2697480" cy="3566160"/>
          </a:xfrm>
          <a:prstGeom prst="roundRect">
            <a:avLst/>
          </a:prstGeom>
          <a:solidFill>
            <a:srgbClr val="F2F4F7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6974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4D"/>
                </a:solidFill>
                <a:latin typeface="Calibri"/>
              </a:defRPr>
            </a:pPr>
            <a:r>
              <a:t>Interactive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42900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Map, theme analysis, peer comparison, trends, country profiles, and literature browser.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468880"/>
            <a:ext cx="2697480" cy="3566160"/>
          </a:xfrm>
          <a:prstGeom prst="roundRect">
            <a:avLst/>
          </a:prstGeom>
          <a:solidFill>
            <a:srgbClr val="F2F4F7"/>
          </a:solidFill>
          <a:ln>
            <a:solidFill>
              <a:srgbClr val="D0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2697480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D2A4D"/>
                </a:solidFill>
                <a:latin typeface="Calibri"/>
              </a:defRPr>
            </a:pPr>
            <a:r>
              <a:t>Research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342900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Method, results figures/tables, country profiles, conclusions, and recommendations.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Problem: why does this matter?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AI medical software (SaMD) is growing fast in imaging, clinical decision support, genomics, and drug discovery.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Rules are not the same everywhere: privacy laws, approval pathways, validation standards, and liability differ by country.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Public information is fragmented across statutes, agency guidance, ethics documents, and device lists.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Developers, policymakers, clinicians, and researchers need one structured, comparable view.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Our response: a coded comparative framework + live dashboard (decision support, not legal advice).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Project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Synthesise literature and regulatory texts on AI healthcare compliance across 20 jurisdictions.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Define seven thematic dimensions and score maturity on a transparent 1-10 scale.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Build a curated, machine-readable dataset with regional metadata and global trends.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Implement an interactive dashboard for exploration, comparison, and literature browsing.</a:t>
            </a:r>
          </a:p>
          <a:p>
            <a:pPr>
              <a:spcAft>
                <a:spcPts val="1400"/>
              </a:spcAft>
              <a:defRPr sz="1700">
                <a:solidFill>
                  <a:srgbClr val="2A2A2A"/>
                </a:solidFill>
                <a:latin typeface="Calibri"/>
              </a:defRPr>
            </a:pPr>
            <a:r>
              <a:t>Document methodology, architecture, findings, and recommendations in the research report.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Methodology pipeline: data collection → score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1.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2344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20 jurisdictions across seven regions: North America, Europe, Asia, Middle East, Africa, Oceania, South America.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2. Collect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9202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Primary: FDA, EMA, MHRA, NMPA, PMDA, WHO, IMDRF, GDPR/AI Act…</a:t>
            </a:r>
            <a:br/>
            <a:r>
              <a:t>Secondary: PubMed, Scopus, IEEE, Scholar, SSRN (2018-2026).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060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3.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6060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Same schema for every country: privacy, AI rule, device framework, approval, validation, ethics, post-market, liability…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918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4.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2918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Assign 1-10 per theme using 4 criteria; assign qualitative maturity label separately.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776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9776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Version-controlled JSON: data/compliance_dataset.json.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634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6. Derive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46634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Dashboard computes overall mean, gaps (max−min), and use-case readiness.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349240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A045"/>
                </a:solidFill>
                <a:latin typeface="Calibri"/>
              </a:defRPr>
            </a:pPr>
            <a:r>
              <a:t>7.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534924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A2A2A"/>
                </a:solidFill>
                <a:latin typeface="Calibri"/>
              </a:defRPr>
            </a:pPr>
            <a:r>
              <a:t>Figures, tables, country profiles, conclusions.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Compliance score  -  what it is and how it is calculated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Each theme score is ordinal 1-10: 1 = little/no documented requirement; 10 = mature, enforceable practice.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Evidence mapped with four criteria: (1) law/guidance exists, (2) AI/SaMD specificity, (3) enforcement/reporting, (4) IMDRF/WHO/GMLP alignment.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Overall score = arithmetic mean of selected theme scores (rounded to 1 decimal).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Formula: Overall = (1/k) × Σ sᵢ   where k = number of selected themes.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Important: these are comparative research indicators  -  not official government ratings.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No machine-learning model invents scores at runtime; scores are curated from documentary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Seven dashboard variables (compliance themes)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280160"/>
            <a:ext cx="2926080" cy="62179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Theme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280160"/>
            <a:ext cx="8046720" cy="62179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What it measures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01952"/>
            <a:ext cx="292608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Data Privacy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901952"/>
            <a:ext cx="804672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Health-data protection laws, cross-border transfers, DPIAs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23744"/>
            <a:ext cx="29260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Clinical 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2523744"/>
            <a:ext cx="80467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Evidence standards, clinical evaluation, bias assessment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45536"/>
            <a:ext cx="292608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Approval Process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3145536"/>
            <a:ext cx="804672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SaMD pathways, AI-specific guidance, regulatory sandboxes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67328"/>
            <a:ext cx="29260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Transparency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767328"/>
            <a:ext cx="80467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Explainability expectations, documentation, clinician intelligibility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389120"/>
            <a:ext cx="292608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Ethics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4389120"/>
            <a:ext cx="804672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National AI ethics frameworks, fairness, human oversight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10912"/>
            <a:ext cx="292608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Post-Market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60" y="5010912"/>
            <a:ext cx="80467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Adverse-event reporting, lifecycle monitoring, update governance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632704"/>
            <a:ext cx="292608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300">
                <a:solidFill>
                  <a:srgbClr val="2A2A2A"/>
                </a:solidFill>
                <a:latin typeface="Calibri"/>
              </a:defRPr>
            </a:pPr>
            <a:r>
              <a:t>Liability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5632704"/>
            <a:ext cx="8046720" cy="62179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A2A2A"/>
                </a:solidFill>
                <a:latin typeface="Calibri"/>
              </a:defRPr>
            </a:pPr>
            <a:r>
              <a:t>Product liability, malpractice interfaces, AI-specific proposals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Maturity classes  -  definitions (not a formula on overall score)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1554480" cy="658368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Class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1280160"/>
            <a:ext cx="5486400" cy="658368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Definition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1280160"/>
            <a:ext cx="3474720" cy="658368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Examples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27080" y="1280160"/>
            <a:ext cx="822960" cy="658368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938528"/>
            <a:ext cx="155448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>
                <a:solidFill>
                  <a:srgbClr val="2A2A2A"/>
                </a:solidFill>
                <a:latin typeface="Calibri"/>
              </a:defRPr>
            </a:pPr>
            <a:r>
              <a:t>Early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1938528"/>
            <a:ext cx="548640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Limited AI-specific healthcare rules; few approvals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1938528"/>
            <a:ext cx="347472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Nigeria, Kenya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27080" y="1938528"/>
            <a:ext cx="82296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596896"/>
            <a:ext cx="155448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>
                <a:solidFill>
                  <a:srgbClr val="2A2A2A"/>
                </a:solidFill>
                <a:latin typeface="Calibri"/>
              </a:defRPr>
            </a:pPr>
            <a:r>
              <a:t>Emerging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65960" y="2596896"/>
            <a:ext cx="54864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Privacy/ethics exist; SaMD pathway still forming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2596896"/>
            <a:ext cx="347472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Saudi Arabia, South Africa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927080" y="2596896"/>
            <a:ext cx="82296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255264"/>
            <a:ext cx="155448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>
                <a:solidFill>
                  <a:srgbClr val="2A2A2A"/>
                </a:solidFill>
                <a:latin typeface="Calibri"/>
              </a:defRPr>
            </a:pPr>
            <a:r>
              <a:t>Developing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65960" y="3255264"/>
            <a:ext cx="548640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Device framework + emerging AI guidance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52360" y="3255264"/>
            <a:ext cx="347472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India, Brazil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27080" y="3255264"/>
            <a:ext cx="82296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913632"/>
            <a:ext cx="155448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>
                <a:solidFill>
                  <a:srgbClr val="2A2A2A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65960" y="3913632"/>
            <a:ext cx="54864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Working SaMD registration &amp; post-market system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52360" y="3913632"/>
            <a:ext cx="347472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Australia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27080" y="3913632"/>
            <a:ext cx="82296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572000"/>
            <a:ext cx="155448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65960" y="4572000"/>
            <a:ext cx="548640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Dedicated AI/ML SaMD or high-risk AI law + lifecycle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60" y="4572000"/>
            <a:ext cx="347472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US, EU, Japan, Singapore…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927080" y="4572000"/>
            <a:ext cx="822960" cy="658368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2A2A2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02920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4A"/>
                </a:solidFill>
                <a:latin typeface="Calibri"/>
              </a:defRPr>
            </a:pPr>
            <a:r>
              <a:t>Maturity is assigned from documentary evidence (AI rules, device pathway, approval activity, privacy/ethics enforcement). Device risk class (FDA I-III) describes the product; maturity describes the country.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Figure: overall country ranking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pic>
        <p:nvPicPr>
          <p:cNvPr id="8" name="Picture 7" descr="overall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188720"/>
            <a:ext cx="8869680" cy="6722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Mean of seven theme scores. EU / United States lead; Kenya and Nigeria trail  -  capacity gap at a glance.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Figures: theme averages and inter-country gaps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pic>
        <p:nvPicPr>
          <p:cNvPr id="8" name="Picture 7" descr="theme_aver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5669280" cy="2959672"/>
          </a:xfrm>
          <a:prstGeom prst="rect">
            <a:avLst/>
          </a:prstGeom>
        </p:spPr>
      </p:pic>
      <p:pic>
        <p:nvPicPr>
          <p:cNvPr id="9" name="Picture 8" descr="theme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34440"/>
            <a:ext cx="5669280" cy="2959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85216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Left: worldwide average maturity by theme (approval &amp; privacy lead; post-market &amp; liability lag). Right: Gap = max − min score  -  large gaps mean strong divergence.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Figures: maturity mix and regional means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pic>
        <p:nvPicPr>
          <p:cNvPr id="8" name="Picture 7" descr="maturity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5303520" cy="4487594"/>
          </a:xfrm>
          <a:prstGeom prst="rect">
            <a:avLst/>
          </a:prstGeom>
        </p:spPr>
      </p:pic>
      <p:pic>
        <p:nvPicPr>
          <p:cNvPr id="9" name="Picture 8" descr="regional_over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371600"/>
            <a:ext cx="5760720" cy="30076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Advanced slice is large because the sample includes major regulators. Europe leads regional means; Africa is lowest.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Figures: peer comparison and top-5 radar profiles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pic>
        <p:nvPicPr>
          <p:cNvPr id="8" name="Picture 7" descr="pe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6400800" cy="3390506"/>
          </a:xfrm>
          <a:prstGeom prst="rect">
            <a:avLst/>
          </a:prstGeom>
        </p:spPr>
      </p:pic>
      <p:pic>
        <p:nvPicPr>
          <p:cNvPr id="9" name="Picture 8" descr="radar_top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280160"/>
            <a:ext cx="5029200" cy="43589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4A4A"/>
                </a:solidFill>
                <a:latin typeface="Calibri"/>
              </a:defRPr>
            </a:pPr>
            <a:r>
              <a:t>US/EU lead most themes; India and South Africa lag on validation, post-market, and liability. Radar shape shows theme strengths differ even among top scorers.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Table: country compliance scores (top 12 + bottom 3)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201168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Country</a:t>
            </a:r>
          </a:p>
        </p:txBody>
      </p:sp>
      <p:sp>
        <p:nvSpPr>
          <p:cNvPr id="9" name="Rectangle 8"/>
          <p:cNvSpPr/>
          <p:nvPr/>
        </p:nvSpPr>
        <p:spPr>
          <a:xfrm>
            <a:off x="2331720" y="1143000"/>
            <a:ext cx="86868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Overall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Priv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4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Clin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Appr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3212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Trans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Eth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1143000"/>
            <a:ext cx="77724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Liab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41080" y="1143000"/>
            <a:ext cx="1371600" cy="301752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Maturity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1444752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European Union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1444752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9.1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4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3212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144475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1444752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1746504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United States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31720" y="1746504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7.6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764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212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660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63840" y="174650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41080" y="1746504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2048256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United Kingdom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331720" y="2048256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7.1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7764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3212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8660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63840" y="204825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41080" y="2048256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2350008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Canada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31720" y="2350008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7.1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97764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5488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3212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936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8660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63840" y="235000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41080" y="2350008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" y="2651760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Japan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331720" y="2651760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97764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8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53212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08660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863840" y="265176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41080" y="2651760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0040" y="2953512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Singapore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331720" y="2953512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6.9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97764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75488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53212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0936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8660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863840" y="2953512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641080" y="2953512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0040" y="3255264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Switzerland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31720" y="3255264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6.9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0040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97764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5488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3212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0936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08660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63840" y="3255264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641080" y="3255264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20040" y="3557016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China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331720" y="3557016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6.7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20040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97764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75488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53212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0936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08660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863840" y="3557016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641080" y="3557016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20040" y="3858768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Australia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331720" y="3858768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6.6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20040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97764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75488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53212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08660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863840" y="3858768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641080" y="3858768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0040" y="4160520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South Korea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331720" y="4160520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6.6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20040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97764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75488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53212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30936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08660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863840" y="4160520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641080" y="4160520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20040" y="4462272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Israel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331720" y="4462272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6.3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20040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97764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75488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53212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0936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08660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863840" y="4462272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641080" y="4462272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Advanced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20040" y="4764024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Brazil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331720" y="4764024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5.3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20040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97764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75488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53212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30936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08660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863840" y="4764024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41080" y="4764024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Developing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20040" y="5065776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South Africa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331720" y="5065776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3.6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20040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97764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75488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53212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30936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08660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863840" y="5065776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641080" y="5065776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Emerging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20040" y="5367528"/>
            <a:ext cx="2011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Kenya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331720" y="5367528"/>
            <a:ext cx="86868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2.7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20040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97764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75488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53212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0936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08660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863840" y="5367528"/>
            <a:ext cx="77724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641080" y="5367528"/>
            <a:ext cx="1371600" cy="301752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Early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320040" y="5669280"/>
            <a:ext cx="2011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Nigeria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2331720" y="5669280"/>
            <a:ext cx="86868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2.6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320040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97764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475488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53212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0936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08660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863840" y="5669280"/>
            <a:ext cx="77724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641080" y="5669280"/>
            <a:ext cx="1371600" cy="301752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Early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Headline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Sample: 20 jurisdictions · 7 themes · maturity distribution includes 10 Advanced and 2 Early.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Top overall: European Union (9.1), United States (7.6), United Kingdom (7.1).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Europe leads privacy/ethics/transparency; United States leads clinical validation and approval volume.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Asia is heterogeneous: Japan/Singapore/China Advanced; India/Thailand Developing.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Africa: South Africa Emerging; Kenya &amp; Nigeria Early  -  privacy statutes alone do not raise overall AI healthcare compliance.</a:t>
            </a:r>
          </a:p>
          <a:p>
            <a:pPr>
              <a:spcAft>
                <a:spcPts val="12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Weakest global pillars: post-market surveillance and liability (lifecycle &amp; accountability).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What we mean by gaps and convergence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5394960" cy="475488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630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2A4D"/>
                </a:solidFill>
                <a:latin typeface="Calibri"/>
              </a:defRPr>
            </a:pPr>
            <a:r>
              <a:t>Gaps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Gap = max(country score) − min(country score) on one theme.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Large gap = divergence zone.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Useful for multi-country evidence strategy.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Widest gaps often: clinical validation &amp; transparency.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280160"/>
            <a:ext cx="5394960" cy="475488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630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D2A4D"/>
                </a:solidFill>
                <a:latin typeface="Calibri"/>
              </a:defRPr>
            </a:pPr>
            <a:r>
              <a:t>Convergence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0312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Not identical laws  -  shared principles &amp; tools.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Risk-based SaMD classification (IMDRF-style).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GDPR-like health-data protection.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GMLP / lifecycle / PCCP thinking.</a:t>
            </a:r>
          </a:p>
          <a:p>
            <a:pPr>
              <a:spcAft>
                <a:spcPts val="1000"/>
              </a:spcAft>
              <a:defRPr sz="1400">
                <a:solidFill>
                  <a:srgbClr val="2A2A2A"/>
                </a:solidFill>
                <a:latin typeface="Calibri"/>
              </a:defRPr>
            </a:pPr>
            <a:r>
              <a:t>Shift from voluntary ethics toward binding rules (e.g. EU AI Act).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Table: selected global trends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3291840" cy="5029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Trend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234440"/>
            <a:ext cx="1097280" cy="5029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Adoption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914400" cy="5029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Since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234440"/>
            <a:ext cx="5943600" cy="5029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Description (short)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37360"/>
            <a:ext cx="329184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Convergence on Risk-Based Regulation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1737360"/>
            <a:ext cx="109728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737360"/>
            <a:ext cx="9144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2017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0" y="1737360"/>
            <a:ext cx="59436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Most jurisdictions adopting risk-based classification of AI medical de…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32918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Comprehensive Data Protection Laws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24028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2240280"/>
            <a:ext cx="9144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2240280"/>
            <a:ext cx="59436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Post-GDPR wave of national data protection laws with health data as se…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743200"/>
            <a:ext cx="329184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AI-Specific Legislation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2743200"/>
            <a:ext cx="109728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2743200"/>
            <a:ext cx="9144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2021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2743200"/>
            <a:ext cx="59436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Growing trend toward dedicated AI laws (EU AI Act leading, followed by…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246120"/>
            <a:ext cx="32918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International Harmonization Efforts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24612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3246120"/>
            <a:ext cx="9144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2019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3246120"/>
            <a:ext cx="59436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IMDRF, GMLP (FDA-Health Canada-MHRA), and WHO guidance driving converg…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749040"/>
            <a:ext cx="329184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Ethical AI Frameworks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0" y="3749040"/>
            <a:ext cx="109728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3749040"/>
            <a:ext cx="9144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2018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0" y="3749040"/>
            <a:ext cx="59436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Proliferation of national AI ethics principles, mostly voluntary, incr…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251960"/>
            <a:ext cx="32918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Regulatory Sandboxes for Health AI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0" y="425196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4251960"/>
            <a:ext cx="9144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4251960"/>
            <a:ext cx="59436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Controlled testing environments for innovative AI devices before full 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754880"/>
            <a:ext cx="329184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Real-World Evidence Acceptance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0" y="4754880"/>
            <a:ext cx="109728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4754880"/>
            <a:ext cx="9144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2019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0" y="4754880"/>
            <a:ext cx="5943600" cy="502920"/>
          </a:xfrm>
          <a:prstGeom prst="rect">
            <a:avLst/>
          </a:prstGeom>
          <a:solidFill>
            <a:srgbClr val="F2F4F7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Growing regulatory acceptance of real-world data and evidence for AI d…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257800"/>
            <a:ext cx="32918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>
                <a:solidFill>
                  <a:srgbClr val="2A2A2A"/>
                </a:solidFill>
                <a:latin typeface="Calibri"/>
              </a:defRPr>
            </a:pPr>
            <a:r>
              <a:t>Adaptive Algorithm Governance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0" y="5257800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54880" y="5257800"/>
            <a:ext cx="9144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2021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0" y="5257800"/>
            <a:ext cx="59436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2A2A2A"/>
                </a:solidFill>
                <a:latin typeface="Calibri"/>
              </a:defRPr>
            </a:pPr>
            <a:r>
              <a:t>Frameworks for managing continuously learning AI systems (e.g., FDA Pr…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Interactive dashboard artefact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Public web app (React + TypeScript + Recharts + maps), hosted on GitHub Pages.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Tabs: Overview · Theme Analysis · Comparison · Trends &amp; Use Cases · Country Detail · Literature.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Filters by region, maturity, and themes recalculate overall scores and gaps instantly.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Live URL: https://remi7025.github.io/AI-Healthcare-Compliance-Dashboard/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Canonical data: data/compliance_dataset.json (same source as this presentation's tables).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Future impact  -  how this work helps improve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For developers: choose first markets by theme strength (e.g. validation-heavy imaging → US/EU).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For policymakers: see where gaps are largest (validation, post-market, liability) and prioritise capacity building.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For researchers &amp; students: reproducible open dataset + dashboard for teaching comparative AI governance.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For hospitals/clinics: link use-case readiness (radiology, genomics…) to local regulatory maturity.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Future upgrades: live regulatory feeds, Delphi expert scoring, more Latin America &amp; African regulators,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and a dedicated evaluation track for foundation-model medical products.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Net effect: faster, safer, more transparent market access decisions and clearer reform priorities.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Recommendations (synthesised from WHO, IMDRF, GMLP, EU AI Act, NIST, literature)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1. Expand IMDRF/WHO coordination on AI-specific clinical-evidence methods.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2. Build regulatory capacity in developing countries (technical assistance, mutual-recognition pilots).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3. Operationalise ethics through measurable fairness, monitoring, and documentation standards.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4. Update liability frameworks before harm cases proliferate.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5. Maintain public dashboards and open datasets for transparent comparative research.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6. Treat foundation-model medical products as a dedicated evaluation track.</a:t>
            </a:r>
          </a:p>
          <a:p>
            <a:pPr>
              <a:spcAft>
                <a:spcPts val="1100"/>
              </a:spcAft>
              <a:defRPr sz="1500">
                <a:solidFill>
                  <a:srgbClr val="2A2A2A"/>
                </a:solidFill>
                <a:latin typeface="Calibri"/>
              </a:defRPr>
            </a:pPr>
            <a:r>
              <a:t>Note: recommendations are a synthesis of the evidence base  -  not a new Delphi survey.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4A4A"/>
                </a:solidFill>
                <a:latin typeface="Calibri"/>
              </a:defRPr>
            </a:pPr>
            <a:r>
              <a:t>AI Clinic  |  aivancity  |  AI Healthcare Compliance Across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Scores are expert documentary syntheses and will drift as laws change.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Device-approval counts are incomplete where agencies do not publish AI-specific tallies.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Sample over-represents Advanced jurisdictions relative to the true world map.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Oceania and South America regional means rest on single countries (Australia, Brazil).</a:t>
            </a:r>
          </a:p>
          <a:p>
            <a:pPr>
              <a:spcAft>
                <a:spcPts val="1400"/>
              </a:spcAft>
              <a:defRPr sz="1600">
                <a:solidFill>
                  <a:srgbClr val="2A2A2A"/>
                </a:solidFill>
                <a:latin typeface="Calibri"/>
              </a:defRPr>
            </a:pPr>
            <a:r>
              <a:t>This is academic decision support  -  not legal advice for market authorisation.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2606040"/>
            <a:ext cx="3931920" cy="73152"/>
          </a:xfrm>
          <a:prstGeom prst="rect">
            <a:avLst/>
          </a:prstGeom>
          <a:solidFill>
            <a:srgbClr val="C5A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5A045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Remi Uttejitha ALLAM  ·  Baptiste Langlois  ·  Tong Li  ·  Darryl Towa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8B8D0"/>
                </a:solidFill>
                <a:latin typeface="Calibri"/>
              </a:defRPr>
            </a:pPr>
            <a:r>
              <a:t>Supervisor: Dr. Anuradha Kar  |  aivancity School for Technology, Business &amp; Society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37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0A4C0"/>
                </a:solidFill>
                <a:latin typeface="Calibri"/>
              </a:defRPr>
            </a:pPr>
            <a:r>
              <a:t>Dashboard: remi7025.github.io/AI-Healthcare-Compliance-Dashboard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