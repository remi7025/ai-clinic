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D2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60520"/>
            <a:ext cx="12188952" cy="73152"/>
          </a:xfrm>
          <a:prstGeom prst="rect">
            <a:avLst/>
          </a:prstGeom>
          <a:solidFill>
            <a:srgbClr val="C5A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C5A045"/>
                </a:solidFill>
                <a:latin typeface="Calibri"/>
              </a:defRPr>
            </a:pPr>
            <a:r>
              <a:t>AI CLINIC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AI for Healthcare Compliance and Regulations Across Countries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8D4E8"/>
                </a:solidFill>
                <a:latin typeface="Calibri"/>
              </a:defRPr>
            </a:pPr>
            <a:r>
              <a:t>Interactive Dashboard and Comparative Regulatory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480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Calibri"/>
              </a:defRPr>
            </a:pPr>
            <a:r>
              <a:t>Remi Uttejitha ALLAM  ·  Baptiste Langlois  ·  Tong Li  ·  Darryl Towa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937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8B8D0"/>
                </a:solidFill>
                <a:latin typeface="Calibri"/>
              </a:defRPr>
            </a:pPr>
            <a:r>
              <a:t>Supervisor: Dr. Anuradha Kar  |  aivancity  |  Academic year 2025-2026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D2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C5A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56032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4A4A"/>
                </a:solidFill>
                <a:latin typeface="Calibri"/>
              </a:defRPr>
            </a:pPr>
            <a:r>
              <a:t>AI Clinic  |  aivancity  |  AI Healthcare Compliance Across Countries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371600"/>
            <a:ext cx="10058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2A2A2A"/>
                </a:solidFill>
                <a:latin typeface="Calibri"/>
              </a:defRPr>
            </a:pPr>
            <a:r>
              <a:t>1. What is this project about?</a:t>
            </a:r>
          </a:p>
          <a:p>
            <a:pPr>
              <a:spcAft>
                <a:spcPts val="1200"/>
              </a:spcAft>
              <a:defRPr sz="1800">
                <a:solidFill>
                  <a:srgbClr val="2A2A2A"/>
                </a:solidFill>
                <a:latin typeface="Calibri"/>
              </a:defRPr>
            </a:pPr>
            <a:r>
              <a:t>2. Problem statement and objectives</a:t>
            </a:r>
          </a:p>
          <a:p>
            <a:pPr>
              <a:spcAft>
                <a:spcPts val="1200"/>
              </a:spcAft>
              <a:defRPr sz="1800">
                <a:solidFill>
                  <a:srgbClr val="2A2A2A"/>
                </a:solidFill>
                <a:latin typeface="Calibri"/>
              </a:defRPr>
            </a:pPr>
            <a:r>
              <a:t>3. Methodology pipeline (data → scores → dashboard)</a:t>
            </a:r>
          </a:p>
          <a:p>
            <a:pPr>
              <a:spcAft>
                <a:spcPts val="1200"/>
              </a:spcAft>
              <a:defRPr sz="1800">
                <a:solidFill>
                  <a:srgbClr val="2A2A2A"/>
                </a:solidFill>
                <a:latin typeface="Calibri"/>
              </a:defRPr>
            </a:pPr>
            <a:r>
              <a:t>4. Compliance scoring and maturity classes</a:t>
            </a:r>
          </a:p>
          <a:p>
            <a:pPr>
              <a:spcAft>
                <a:spcPts val="1200"/>
              </a:spcAft>
              <a:defRPr sz="1800">
                <a:solidFill>
                  <a:srgbClr val="2A2A2A"/>
                </a:solidFill>
                <a:latin typeface="Calibri"/>
              </a:defRPr>
            </a:pPr>
            <a:r>
              <a:t>5. Seven regulatory themes explained</a:t>
            </a:r>
          </a:p>
          <a:p>
            <a:pPr>
              <a:spcAft>
                <a:spcPts val="1200"/>
              </a:spcAft>
              <a:defRPr sz="1800">
                <a:solidFill>
                  <a:srgbClr val="2A2A2A"/>
                </a:solidFill>
                <a:latin typeface="Calibri"/>
              </a:defRPr>
            </a:pPr>
            <a:r>
              <a:t>6. Key results  -  tables and figures</a:t>
            </a:r>
          </a:p>
          <a:p>
            <a:pPr>
              <a:spcAft>
                <a:spcPts val="1200"/>
              </a:spcAft>
              <a:defRPr sz="1800">
                <a:solidFill>
                  <a:srgbClr val="2A2A2A"/>
                </a:solidFill>
                <a:latin typeface="Calibri"/>
              </a:defRPr>
            </a:pPr>
            <a:r>
              <a:t>7. Gaps, convergence, and recommendations</a:t>
            </a:r>
          </a:p>
          <a:p>
            <a:pPr>
              <a:spcAft>
                <a:spcPts val="1200"/>
              </a:spcAft>
              <a:defRPr sz="1800">
                <a:solidFill>
                  <a:srgbClr val="2A2A2A"/>
                </a:solidFill>
                <a:latin typeface="Calibri"/>
              </a:defRPr>
            </a:pPr>
            <a:r>
              <a:t>8. Future impact  -  how this work helps improve practice</a:t>
            </a:r>
          </a:p>
          <a:p>
            <a:pPr>
              <a:spcAft>
                <a:spcPts val="1200"/>
              </a:spcAft>
              <a:defRPr sz="1800">
                <a:solidFill>
                  <a:srgbClr val="2A2A2A"/>
                </a:solidFill>
                <a:latin typeface="Calibri"/>
              </a:defRPr>
            </a:pPr>
            <a:r>
              <a:t>9. Limitations and thank you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D2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C5A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56032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What is this project about?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4A4A"/>
                </a:solidFill>
                <a:latin typeface="Calibri"/>
              </a:defRPr>
            </a:pPr>
            <a:r>
              <a:t>AI Clinic  |  aivancity  |  AI Healthcare Compliance Across Countries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4A4A4A"/>
                </a:solidFill>
                <a:latin typeface="Calibri"/>
              </a:defRPr>
            </a:pPr>
            <a:r>
              <a:t>AI Clinic compares how different countries regulate artificial intelligence in healthcare, and turns that comparison into an interactive dashboard and research report.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468880"/>
            <a:ext cx="2697480" cy="3566160"/>
          </a:xfrm>
          <a:prstGeom prst="roundRect">
            <a:avLst/>
          </a:prstGeom>
          <a:solidFill>
            <a:srgbClr val="F2F4F7"/>
          </a:solidFill>
          <a:ln>
            <a:solidFill>
              <a:srgbClr val="D0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697480"/>
            <a:ext cx="2423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D2A4D"/>
                </a:solidFill>
                <a:latin typeface="Calibri"/>
              </a:defRPr>
            </a:pPr>
            <a:r>
              <a:t>Literature synthesis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429000"/>
            <a:ext cx="24231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4A4A"/>
                </a:solidFill>
                <a:latin typeface="Calibri"/>
              </a:defRPr>
            </a:pPr>
            <a:r>
              <a:t>Policy and peer-reviewed sources on SaMD, privacy, ethics, and lifecycle governance (2018-2026).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83280" y="2468880"/>
            <a:ext cx="2697480" cy="3566160"/>
          </a:xfrm>
          <a:prstGeom prst="roundRect">
            <a:avLst/>
          </a:prstGeom>
          <a:solidFill>
            <a:srgbClr val="F2F4F7"/>
          </a:solidFill>
          <a:ln>
            <a:solidFill>
              <a:srgbClr val="D0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0440" y="2697480"/>
            <a:ext cx="2423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D2A4D"/>
                </a:solidFill>
                <a:latin typeface="Calibri"/>
              </a:defRPr>
            </a:pPr>
            <a:r>
              <a:t>20-country dataset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3429000"/>
            <a:ext cx="24231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4A4A"/>
                </a:solidFill>
                <a:latin typeface="Calibri"/>
              </a:defRPr>
            </a:pPr>
            <a:r>
              <a:t>Seven themes scored 1-10, maturity labels, device counts, challenges, and notable developments.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2468880"/>
            <a:ext cx="2697480" cy="3566160"/>
          </a:xfrm>
          <a:prstGeom prst="roundRect">
            <a:avLst/>
          </a:prstGeom>
          <a:solidFill>
            <a:srgbClr val="F2F4F7"/>
          </a:solidFill>
          <a:ln>
            <a:solidFill>
              <a:srgbClr val="D0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2697480"/>
            <a:ext cx="2423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D2A4D"/>
                </a:solidFill>
                <a:latin typeface="Calibri"/>
              </a:defRPr>
            </a:pPr>
            <a:r>
              <a:t>Interactive dashboard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3429000"/>
            <a:ext cx="24231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4A4A"/>
                </a:solidFill>
                <a:latin typeface="Calibri"/>
              </a:defRPr>
            </a:pPr>
            <a:r>
              <a:t>Map, theme analysis, peer comparison, trends, country profiles, and literature browser.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0" y="2468880"/>
            <a:ext cx="2697480" cy="3566160"/>
          </a:xfrm>
          <a:prstGeom prst="roundRect">
            <a:avLst/>
          </a:prstGeom>
          <a:solidFill>
            <a:srgbClr val="F2F4F7"/>
          </a:solidFill>
          <a:ln>
            <a:solidFill>
              <a:srgbClr val="D0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81160" y="2697480"/>
            <a:ext cx="2423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D2A4D"/>
                </a:solidFill>
                <a:latin typeface="Calibri"/>
              </a:defRPr>
            </a:pPr>
            <a:r>
              <a:t>Research report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81160" y="3429000"/>
            <a:ext cx="24231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4A4A"/>
                </a:solidFill>
                <a:latin typeface="Calibri"/>
              </a:defRPr>
            </a:pPr>
            <a:r>
              <a:t>Method, results figures/tables, country profiles, conclusions, and recommendations.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D2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C5A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56032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Problem: why does this matter?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4A4A"/>
                </a:solidFill>
                <a:latin typeface="Calibri"/>
              </a:defRPr>
            </a:pPr>
            <a:r>
              <a:t>AI Clinic  |  aivancity  |  AI Healthcare Compliance Across Countries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700">
                <a:solidFill>
                  <a:srgbClr val="2A2A2A"/>
                </a:solidFill>
                <a:latin typeface="Calibri"/>
              </a:defRPr>
            </a:pPr>
            <a:r>
              <a:t>AI medical software (SaMD) is growing fast in imaging, clinical decision support, genomics, and drug discovery.</a:t>
            </a:r>
          </a:p>
          <a:p>
            <a:pPr>
              <a:spcAft>
                <a:spcPts val="1400"/>
              </a:spcAft>
              <a:defRPr sz="1700">
                <a:solidFill>
                  <a:srgbClr val="2A2A2A"/>
                </a:solidFill>
                <a:latin typeface="Calibri"/>
              </a:defRPr>
            </a:pPr>
            <a:r>
              <a:t>Rules are not the same everywhere: privacy laws, approval pathways, validation standards, and liability differ by country.</a:t>
            </a:r>
          </a:p>
          <a:p>
            <a:pPr>
              <a:spcAft>
                <a:spcPts val="1400"/>
              </a:spcAft>
              <a:defRPr sz="1700">
                <a:solidFill>
                  <a:srgbClr val="2A2A2A"/>
                </a:solidFill>
                <a:latin typeface="Calibri"/>
              </a:defRPr>
            </a:pPr>
            <a:r>
              <a:t>Public information is fragmented across statutes, agency guidance, ethics documents, and device lists.</a:t>
            </a:r>
          </a:p>
          <a:p>
            <a:pPr>
              <a:spcAft>
                <a:spcPts val="1400"/>
              </a:spcAft>
              <a:defRPr sz="1700">
                <a:solidFill>
                  <a:srgbClr val="2A2A2A"/>
                </a:solidFill>
                <a:latin typeface="Calibri"/>
              </a:defRPr>
            </a:pPr>
            <a:r>
              <a:t>Developers, policymakers, clinicians, and researchers need one structured, comparable view.</a:t>
            </a:r>
          </a:p>
          <a:p>
            <a:pPr>
              <a:spcAft>
                <a:spcPts val="1400"/>
              </a:spcAft>
              <a:defRPr sz="1700">
                <a:solidFill>
                  <a:srgbClr val="2A2A2A"/>
                </a:solidFill>
                <a:latin typeface="Calibri"/>
              </a:defRPr>
            </a:pPr>
            <a:r>
              <a:t>Our response: a coded comparative framework + live dashboard (decision support, not legal advice).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D2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C5A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56032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Project objectives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4A4A"/>
                </a:solidFill>
                <a:latin typeface="Calibri"/>
              </a:defRPr>
            </a:pPr>
            <a:r>
              <a:t>AI Clinic  |  aivancity  |  AI Healthcare Compliance Across Countries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700">
                <a:solidFill>
                  <a:srgbClr val="2A2A2A"/>
                </a:solidFill>
                <a:latin typeface="Calibri"/>
              </a:defRPr>
            </a:pPr>
            <a:r>
              <a:t>Synthesise literature and regulatory texts on AI healthcare compliance across 20 jurisdictions.</a:t>
            </a:r>
          </a:p>
          <a:p>
            <a:pPr>
              <a:spcAft>
                <a:spcPts val="1400"/>
              </a:spcAft>
              <a:defRPr sz="1700">
                <a:solidFill>
                  <a:srgbClr val="2A2A2A"/>
                </a:solidFill>
                <a:latin typeface="Calibri"/>
              </a:defRPr>
            </a:pPr>
            <a:r>
              <a:t>Define seven thematic dimensions and score maturity on a transparent 1-10 scale.</a:t>
            </a:r>
          </a:p>
          <a:p>
            <a:pPr>
              <a:spcAft>
                <a:spcPts val="1400"/>
              </a:spcAft>
              <a:defRPr sz="1700">
                <a:solidFill>
                  <a:srgbClr val="2A2A2A"/>
                </a:solidFill>
                <a:latin typeface="Calibri"/>
              </a:defRPr>
            </a:pPr>
            <a:r>
              <a:t>Build a curated, machine-readable dataset with regional metadata and global trends.</a:t>
            </a:r>
          </a:p>
          <a:p>
            <a:pPr>
              <a:spcAft>
                <a:spcPts val="1400"/>
              </a:spcAft>
              <a:defRPr sz="1700">
                <a:solidFill>
                  <a:srgbClr val="2A2A2A"/>
                </a:solidFill>
                <a:latin typeface="Calibri"/>
              </a:defRPr>
            </a:pPr>
            <a:r>
              <a:t>Implement an interactive dashboard for exploration, comparison, and literature browsing.</a:t>
            </a:r>
          </a:p>
          <a:p>
            <a:pPr>
              <a:spcAft>
                <a:spcPts val="1400"/>
              </a:spcAft>
              <a:defRPr sz="1700">
                <a:solidFill>
                  <a:srgbClr val="2A2A2A"/>
                </a:solidFill>
                <a:latin typeface="Calibri"/>
              </a:defRPr>
            </a:pPr>
            <a:r>
              <a:t>Document methodology, architecture, findings, and recommendations in the research report.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D2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C5A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56032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Methodology pipeline: data collection → score calculation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4A4A"/>
                </a:solidFill>
                <a:latin typeface="Calibri"/>
              </a:defRPr>
            </a:pPr>
            <a:r>
              <a:t>AI Clinic  |  aivancity  |  AI Healthcare Compliance Across Countries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34440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C5A045"/>
                </a:solidFill>
                <a:latin typeface="Calibri"/>
              </a:defRPr>
            </a:pPr>
            <a:r>
              <a:t>1. Scope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03120" y="1234440"/>
            <a:ext cx="9509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A2A2A"/>
                </a:solidFill>
                <a:latin typeface="Calibri"/>
              </a:defRPr>
            </a:pPr>
            <a:r>
              <a:t>20 jurisdictions across seven regions: North America, Europe, Asia, Middle East, Africa, Oceania, South America.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920240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C5A045"/>
                </a:solidFill>
                <a:latin typeface="Calibri"/>
              </a:defRPr>
            </a:pPr>
            <a:r>
              <a:t>2. Collect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3120" y="1920240"/>
            <a:ext cx="9509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A2A2A"/>
                </a:solidFill>
                <a:latin typeface="Calibri"/>
              </a:defRPr>
            </a:pPr>
            <a:r>
              <a:t>Primary: FDA, EMA, MHRA, NMPA, PMDA, WHO, IMDRF, GDPR/AI Act…</a:t>
            </a:r>
            <a:br/>
            <a:r>
              <a:t>Secondary: PubMed, Scopus, IEEE, Scholar, SSRN (2018-2026).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606040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C5A045"/>
                </a:solidFill>
                <a:latin typeface="Calibri"/>
              </a:defRPr>
            </a:pPr>
            <a:r>
              <a:t>3. Code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03120" y="2606040"/>
            <a:ext cx="9509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A2A2A"/>
                </a:solidFill>
                <a:latin typeface="Calibri"/>
              </a:defRPr>
            </a:pPr>
            <a:r>
              <a:t>Same schema for every country: privacy, AI rule, device framework, approval, validation, ethics, post-market, liability…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291840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C5A045"/>
                </a:solidFill>
                <a:latin typeface="Calibri"/>
              </a:defRPr>
            </a:pPr>
            <a:r>
              <a:t>4. Score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03120" y="3291840"/>
            <a:ext cx="9509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A2A2A"/>
                </a:solidFill>
                <a:latin typeface="Calibri"/>
              </a:defRPr>
            </a:pPr>
            <a:r>
              <a:t>Assign 1-10 per theme using 4 criteria; assign qualitative maturity label separately.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3977640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C5A045"/>
                </a:solidFill>
                <a:latin typeface="Calibri"/>
              </a:defRPr>
            </a:pPr>
            <a:r>
              <a:t>5. Store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3120" y="3977640"/>
            <a:ext cx="9509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A2A2A"/>
                </a:solidFill>
                <a:latin typeface="Calibri"/>
              </a:defRPr>
            </a:pPr>
            <a:r>
              <a:t>Version-controlled JSON: data/compliance_dataset.json.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4663440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C5A045"/>
                </a:solidFill>
                <a:latin typeface="Calibri"/>
              </a:defRPr>
            </a:pPr>
            <a:r>
              <a:t>6. Derive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03120" y="4663440"/>
            <a:ext cx="9509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A2A2A"/>
                </a:solidFill>
                <a:latin typeface="Calibri"/>
              </a:defRPr>
            </a:pPr>
            <a:r>
              <a:t>Dashboard computes overall mean, gaps (max−min), and use-case readiness.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5349240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C5A045"/>
                </a:solidFill>
                <a:latin typeface="Calibri"/>
              </a:defRPr>
            </a:pPr>
            <a:r>
              <a:t>7. Report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03120" y="5349240"/>
            <a:ext cx="9509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A2A2A"/>
                </a:solidFill>
                <a:latin typeface="Calibri"/>
              </a:defRPr>
            </a:pPr>
            <a:r>
              <a:t>Figures, tables, country profiles, conclusions.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D2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C5A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56032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Compliance score  -  what it is and how it is calculated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4A4A"/>
                </a:solidFill>
                <a:latin typeface="Calibri"/>
              </a:defRPr>
            </a:pPr>
            <a:r>
              <a:t>AI Clinic  |  aivancity  |  AI Healthcare Compliance Across Countries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28016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>
                <a:solidFill>
                  <a:srgbClr val="2A2A2A"/>
                </a:solidFill>
                <a:latin typeface="Calibri"/>
              </a:defRPr>
            </a:pPr>
            <a:r>
              <a:t>Each theme score is ordinal 1-10: 1 = little/no documented requirement; 10 = mature, enforceable practice.</a:t>
            </a:r>
          </a:p>
          <a:p>
            <a:pPr>
              <a:spcAft>
                <a:spcPts val="1200"/>
              </a:spcAft>
              <a:defRPr sz="1600">
                <a:solidFill>
                  <a:srgbClr val="2A2A2A"/>
                </a:solidFill>
                <a:latin typeface="Calibri"/>
              </a:defRPr>
            </a:pPr>
            <a:r>
              <a:t>Evidence mapped with four criteria: (1) law/guidance exists, (2) AI/SaMD specificity, (3) enforcement/reporting, (4) IMDRF/WHO/GMLP alignment.</a:t>
            </a:r>
          </a:p>
          <a:p>
            <a:pPr>
              <a:spcAft>
                <a:spcPts val="1200"/>
              </a:spcAft>
              <a:defRPr sz="1600">
                <a:solidFill>
                  <a:srgbClr val="2A2A2A"/>
                </a:solidFill>
                <a:latin typeface="Calibri"/>
              </a:defRPr>
            </a:pPr>
            <a:r>
              <a:t>Overall score = arithmetic mean of selected theme scores (rounded to 1 decimal).</a:t>
            </a:r>
          </a:p>
          <a:p>
            <a:pPr>
              <a:spcAft>
                <a:spcPts val="1200"/>
              </a:spcAft>
              <a:defRPr sz="1600">
                <a:solidFill>
                  <a:srgbClr val="2A2A2A"/>
                </a:solidFill>
                <a:latin typeface="Calibri"/>
              </a:defRPr>
            </a:pPr>
            <a:r>
              <a:t>Formula: Overall = (1/k) × Σ sᵢ   where k = number of selected themes.</a:t>
            </a:r>
          </a:p>
          <a:p>
            <a:pPr>
              <a:spcAft>
                <a:spcPts val="1200"/>
              </a:spcAft>
              <a:defRPr sz="1600">
                <a:solidFill>
                  <a:srgbClr val="2A2A2A"/>
                </a:solidFill>
                <a:latin typeface="Calibri"/>
              </a:defRPr>
            </a:pPr>
            <a:r>
              <a:t>Important: these are comparative research indicators  -  not official government ratings.</a:t>
            </a:r>
          </a:p>
          <a:p>
            <a:pPr>
              <a:spcAft>
                <a:spcPts val="1200"/>
              </a:spcAft>
              <a:defRPr sz="1600">
                <a:solidFill>
                  <a:srgbClr val="2A2A2A"/>
                </a:solidFill>
                <a:latin typeface="Calibri"/>
              </a:defRPr>
            </a:pPr>
            <a:r>
              <a:t>No machine-learning model invents scores at runtime; scores are curated from documentary evidence.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D2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C5A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56032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Seven dashboard variables (compliance themes)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4A4A"/>
                </a:solidFill>
                <a:latin typeface="Calibri"/>
              </a:defRPr>
            </a:pPr>
            <a:r>
              <a:t>AI Clinic  |  aivancity  |  AI Healthcare Compliance Across Countries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280160"/>
            <a:ext cx="2926080" cy="621792"/>
          </a:xfrm>
          <a:prstGeom prst="rect">
            <a:avLst/>
          </a:prstGeom>
          <a:solidFill>
            <a:srgbClr val="1D2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Theme</a:t>
            </a:r>
          </a:p>
        </p:txBody>
      </p:sp>
      <p:sp>
        <p:nvSpPr>
          <p:cNvPr id="9" name="Rectangle 8"/>
          <p:cNvSpPr/>
          <p:nvPr/>
        </p:nvSpPr>
        <p:spPr>
          <a:xfrm>
            <a:off x="3566160" y="1280160"/>
            <a:ext cx="8046720" cy="621792"/>
          </a:xfrm>
          <a:prstGeom prst="rect">
            <a:avLst/>
          </a:prstGeom>
          <a:solidFill>
            <a:srgbClr val="1D2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What it measures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1901952"/>
            <a:ext cx="2926080" cy="62179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300">
                <a:solidFill>
                  <a:srgbClr val="2A2A2A"/>
                </a:solidFill>
                <a:latin typeface="Calibri"/>
              </a:defRPr>
            </a:pPr>
            <a:r>
              <a:t>Data Privacy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66160" y="1901952"/>
            <a:ext cx="8046720" cy="62179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>
                <a:solidFill>
                  <a:srgbClr val="2A2A2A"/>
                </a:solidFill>
                <a:latin typeface="Calibri"/>
              </a:defRPr>
            </a:pPr>
            <a:r>
              <a:t>Health-data protection laws, cross-border transfers, DPIAs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523744"/>
            <a:ext cx="2926080" cy="62179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300">
                <a:solidFill>
                  <a:srgbClr val="2A2A2A"/>
                </a:solidFill>
                <a:latin typeface="Calibri"/>
              </a:defRPr>
            </a:pPr>
            <a:r>
              <a:t>Clinical Validation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66160" y="2523744"/>
            <a:ext cx="8046720" cy="62179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>
                <a:solidFill>
                  <a:srgbClr val="2A2A2A"/>
                </a:solidFill>
                <a:latin typeface="Calibri"/>
              </a:defRPr>
            </a:pPr>
            <a:r>
              <a:t>Evidence standards, clinical evaluation, bias assessment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145536"/>
            <a:ext cx="2926080" cy="62179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300">
                <a:solidFill>
                  <a:srgbClr val="2A2A2A"/>
                </a:solidFill>
                <a:latin typeface="Calibri"/>
              </a:defRPr>
            </a:pPr>
            <a:r>
              <a:t>Approval Process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66160" y="3145536"/>
            <a:ext cx="8046720" cy="62179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>
                <a:solidFill>
                  <a:srgbClr val="2A2A2A"/>
                </a:solidFill>
                <a:latin typeface="Calibri"/>
              </a:defRPr>
            </a:pPr>
            <a:r>
              <a:t>SaMD pathways, AI-specific guidance, regulatory sandboxes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3767328"/>
            <a:ext cx="2926080" cy="62179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300">
                <a:solidFill>
                  <a:srgbClr val="2A2A2A"/>
                </a:solidFill>
                <a:latin typeface="Calibri"/>
              </a:defRPr>
            </a:pPr>
            <a:r>
              <a:t>Transparency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66160" y="3767328"/>
            <a:ext cx="8046720" cy="62179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>
                <a:solidFill>
                  <a:srgbClr val="2A2A2A"/>
                </a:solidFill>
                <a:latin typeface="Calibri"/>
              </a:defRPr>
            </a:pPr>
            <a:r>
              <a:t>Explainability expectations, documentation, clinician intelligibility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389120"/>
            <a:ext cx="2926080" cy="62179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300">
                <a:solidFill>
                  <a:srgbClr val="2A2A2A"/>
                </a:solidFill>
                <a:latin typeface="Calibri"/>
              </a:defRPr>
            </a:pPr>
            <a:r>
              <a:t>Ethics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566160" y="4389120"/>
            <a:ext cx="8046720" cy="62179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>
                <a:solidFill>
                  <a:srgbClr val="2A2A2A"/>
                </a:solidFill>
                <a:latin typeface="Calibri"/>
              </a:defRPr>
            </a:pPr>
            <a:r>
              <a:t>National AI ethics frameworks, fairness, human oversight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5010912"/>
            <a:ext cx="2926080" cy="62179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300">
                <a:solidFill>
                  <a:srgbClr val="2A2A2A"/>
                </a:solidFill>
                <a:latin typeface="Calibri"/>
              </a:defRPr>
            </a:pPr>
            <a:r>
              <a:t>Post-Market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66160" y="5010912"/>
            <a:ext cx="8046720" cy="62179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>
                <a:solidFill>
                  <a:srgbClr val="2A2A2A"/>
                </a:solidFill>
                <a:latin typeface="Calibri"/>
              </a:defRPr>
            </a:pPr>
            <a:r>
              <a:t>Adverse-event reporting, lifecycle monitoring, update governance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5632704"/>
            <a:ext cx="2926080" cy="62179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300">
                <a:solidFill>
                  <a:srgbClr val="2A2A2A"/>
                </a:solidFill>
                <a:latin typeface="Calibri"/>
              </a:defRPr>
            </a:pPr>
            <a:r>
              <a:t>Liability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566160" y="5632704"/>
            <a:ext cx="8046720" cy="62179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>
                <a:solidFill>
                  <a:srgbClr val="2A2A2A"/>
                </a:solidFill>
                <a:latin typeface="Calibri"/>
              </a:defRPr>
            </a:pPr>
            <a:r>
              <a:t>Product liability, malpractice interfaces, AI-specific proposals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D2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C5A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56032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Maturity classes  -  definitions (not a formula on overall score)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4A4A"/>
                </a:solidFill>
                <a:latin typeface="Calibri"/>
              </a:defRPr>
            </a:pPr>
            <a:r>
              <a:t>AI Clinic  |  aivancity  |  AI Healthcare Compliance Across Countries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280160"/>
            <a:ext cx="1554480" cy="658368"/>
          </a:xfrm>
          <a:prstGeom prst="rect">
            <a:avLst/>
          </a:prstGeom>
          <a:solidFill>
            <a:srgbClr val="1D2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Class</a:t>
            </a:r>
          </a:p>
        </p:txBody>
      </p:sp>
      <p:sp>
        <p:nvSpPr>
          <p:cNvPr id="9" name="Rectangle 8"/>
          <p:cNvSpPr/>
          <p:nvPr/>
        </p:nvSpPr>
        <p:spPr>
          <a:xfrm>
            <a:off x="1965960" y="1280160"/>
            <a:ext cx="5486400" cy="658368"/>
          </a:xfrm>
          <a:prstGeom prst="rect">
            <a:avLst/>
          </a:prstGeom>
          <a:solidFill>
            <a:srgbClr val="1D2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Definition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52360" y="1280160"/>
            <a:ext cx="3474720" cy="658368"/>
          </a:xfrm>
          <a:prstGeom prst="rect">
            <a:avLst/>
          </a:prstGeom>
          <a:solidFill>
            <a:srgbClr val="1D2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Examples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27080" y="1280160"/>
            <a:ext cx="822960" cy="658368"/>
          </a:xfrm>
          <a:prstGeom prst="rect">
            <a:avLst/>
          </a:prstGeom>
          <a:solidFill>
            <a:srgbClr val="1D2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1938528"/>
            <a:ext cx="1554480" cy="658368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200">
                <a:solidFill>
                  <a:srgbClr val="2A2A2A"/>
                </a:solidFill>
                <a:latin typeface="Calibri"/>
              </a:defRPr>
            </a:pPr>
            <a:r>
              <a:t>Early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965960" y="1938528"/>
            <a:ext cx="5486400" cy="658368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2A2A2A"/>
                </a:solidFill>
                <a:latin typeface="Calibri"/>
              </a:defRPr>
            </a:pPr>
            <a:r>
              <a:t>Limited AI-specific healthcare rules; few approvals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52360" y="1938528"/>
            <a:ext cx="3474720" cy="658368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2A2A2A"/>
                </a:solidFill>
                <a:latin typeface="Calibri"/>
              </a:defRPr>
            </a:pPr>
            <a:r>
              <a:t>Nigeria, Kenya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927080" y="1938528"/>
            <a:ext cx="822960" cy="658368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2A2A2A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2596896"/>
            <a:ext cx="1554480" cy="658368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200">
                <a:solidFill>
                  <a:srgbClr val="2A2A2A"/>
                </a:solidFill>
                <a:latin typeface="Calibri"/>
              </a:defRPr>
            </a:pPr>
            <a:r>
              <a:t>Emerging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65960" y="2596896"/>
            <a:ext cx="5486400" cy="658368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2A2A2A"/>
                </a:solidFill>
                <a:latin typeface="Calibri"/>
              </a:defRPr>
            </a:pPr>
            <a:r>
              <a:t>Privacy/ethics exist; SaMD pathway still forming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452360" y="2596896"/>
            <a:ext cx="3474720" cy="658368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2A2A2A"/>
                </a:solidFill>
                <a:latin typeface="Calibri"/>
              </a:defRPr>
            </a:pPr>
            <a:r>
              <a:t>Saudi Arabia, South Africa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927080" y="2596896"/>
            <a:ext cx="822960" cy="658368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2A2A2A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3255264"/>
            <a:ext cx="1554480" cy="658368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200">
                <a:solidFill>
                  <a:srgbClr val="2A2A2A"/>
                </a:solidFill>
                <a:latin typeface="Calibri"/>
              </a:defRPr>
            </a:pPr>
            <a:r>
              <a:t>Developing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965960" y="3255264"/>
            <a:ext cx="5486400" cy="658368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2A2A2A"/>
                </a:solidFill>
                <a:latin typeface="Calibri"/>
              </a:defRPr>
            </a:pPr>
            <a:r>
              <a:t>Device framework + emerging AI guidance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452360" y="3255264"/>
            <a:ext cx="3474720" cy="658368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2A2A2A"/>
                </a:solidFill>
                <a:latin typeface="Calibri"/>
              </a:defRPr>
            </a:pPr>
            <a:r>
              <a:t>India, Brazil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927080" y="3255264"/>
            <a:ext cx="822960" cy="658368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2A2A2A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3913632"/>
            <a:ext cx="1554480" cy="658368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200">
                <a:solidFill>
                  <a:srgbClr val="2A2A2A"/>
                </a:solidFill>
                <a:latin typeface="Calibri"/>
              </a:defRPr>
            </a:pPr>
            <a:r>
              <a:t>Moderate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965960" y="3913632"/>
            <a:ext cx="5486400" cy="658368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2A2A2A"/>
                </a:solidFill>
                <a:latin typeface="Calibri"/>
              </a:defRPr>
            </a:pPr>
            <a:r>
              <a:t>Working SaMD registration &amp; post-market system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452360" y="3913632"/>
            <a:ext cx="3474720" cy="658368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2A2A2A"/>
                </a:solidFill>
                <a:latin typeface="Calibri"/>
              </a:defRPr>
            </a:pPr>
            <a:r>
              <a:t>Australia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927080" y="3913632"/>
            <a:ext cx="822960" cy="658368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2A2A2A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" y="4572000"/>
            <a:ext cx="1554480" cy="658368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200">
                <a:solidFill>
                  <a:srgbClr val="2A2A2A"/>
                </a:solidFill>
                <a:latin typeface="Calibri"/>
              </a:defRPr>
            </a:pPr>
            <a:r>
              <a:t>Advanced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965960" y="4572000"/>
            <a:ext cx="5486400" cy="658368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2A2A2A"/>
                </a:solidFill>
                <a:latin typeface="Calibri"/>
              </a:defRPr>
            </a:pPr>
            <a:r>
              <a:t>Dedicated AI/ML SaMD or high-risk AI law + lifecycle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452360" y="4572000"/>
            <a:ext cx="3474720" cy="658368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2A2A2A"/>
                </a:solidFill>
                <a:latin typeface="Calibri"/>
              </a:defRPr>
            </a:pPr>
            <a:r>
              <a:t>US, EU, Japan, Singapore…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927080" y="4572000"/>
            <a:ext cx="822960" cy="658368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2A2A2A"/>
                </a:solidFill>
                <a:latin typeface="Calibri"/>
              </a:defRPr>
            </a:pPr>
            <a:r>
              <a:t>11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5029200"/>
            <a:ext cx="11155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4A4A"/>
                </a:solidFill>
                <a:latin typeface="Calibri"/>
              </a:defRPr>
            </a:pPr>
            <a:r>
              <a:t>Maturity is assigned from documentary evidence (AI rules, device pathway, approval activity, privacy/ethics enforcement). Device risk class (FDA I-III) describes the product; maturity describes the country.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D2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C5A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56032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Figure: overall country ranking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4A4A"/>
                </a:solidFill>
                <a:latin typeface="Calibri"/>
              </a:defRPr>
            </a:pPr>
            <a:r>
              <a:t>AI Clinic  |  aivancity  |  AI Healthcare Compliance Across Countries</a:t>
            </a:r>
          </a:p>
        </p:txBody>
      </p:sp>
      <p:pic>
        <p:nvPicPr>
          <p:cNvPr id="8" name="Picture 7" descr="overall_rank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0" y="1188720"/>
            <a:ext cx="8869680" cy="67222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5989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4A4A"/>
                </a:solidFill>
                <a:latin typeface="Calibri"/>
              </a:defRPr>
            </a:pPr>
            <a:r>
              <a:t>Mean of seven theme scores. EU / Germany / United States lead; Kenya and Nigeria trail  -  capacity gap at a glance.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D2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C5A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56032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Figures: theme averages and inter-country gaps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4A4A"/>
                </a:solidFill>
                <a:latin typeface="Calibri"/>
              </a:defRPr>
            </a:pPr>
            <a:r>
              <a:t>AI Clinic  |  aivancity  |  AI Healthcare Compliance Across Countries</a:t>
            </a:r>
          </a:p>
        </p:txBody>
      </p:sp>
      <p:pic>
        <p:nvPicPr>
          <p:cNvPr id="8" name="Picture 7" descr="theme_averag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5669280" cy="2959672"/>
          </a:xfrm>
          <a:prstGeom prst="rect">
            <a:avLst/>
          </a:prstGeom>
        </p:spPr>
      </p:pic>
      <p:pic>
        <p:nvPicPr>
          <p:cNvPr id="9" name="Picture 8" descr="theme_gap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234440"/>
            <a:ext cx="5669280" cy="2959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" y="5852160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4A4A"/>
                </a:solidFill>
                <a:latin typeface="Calibri"/>
              </a:defRPr>
            </a:pPr>
            <a:r>
              <a:t>Left: worldwide average maturity by theme (approval &amp; privacy lead; post-market &amp; liability lag). Right: Gap = max − min score  -  large gaps mean strong divergence.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D2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C5A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56032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Figures: maturity mix and regional means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4A4A"/>
                </a:solidFill>
                <a:latin typeface="Calibri"/>
              </a:defRPr>
            </a:pPr>
            <a:r>
              <a:t>AI Clinic  |  aivancity  |  AI Healthcare Compliance Across Countries</a:t>
            </a:r>
          </a:p>
        </p:txBody>
      </p:sp>
      <p:pic>
        <p:nvPicPr>
          <p:cNvPr id="8" name="Picture 7" descr="maturity_m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34440"/>
            <a:ext cx="5303520" cy="4487594"/>
          </a:xfrm>
          <a:prstGeom prst="rect">
            <a:avLst/>
          </a:prstGeom>
        </p:spPr>
      </p:pic>
      <p:pic>
        <p:nvPicPr>
          <p:cNvPr id="9" name="Picture 8" descr="regional_over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1371600"/>
            <a:ext cx="5760720" cy="300764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" y="589788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4A4A"/>
                </a:solidFill>
                <a:latin typeface="Calibri"/>
              </a:defRPr>
            </a:pPr>
            <a:r>
              <a:t>Advanced slice is large because the sample includes major regulators. Europe leads regional means; Africa is lowest.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D2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C5A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56032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Figures: peer comparison and top-5 radar profiles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4A4A"/>
                </a:solidFill>
                <a:latin typeface="Calibri"/>
              </a:defRPr>
            </a:pPr>
            <a:r>
              <a:t>AI Clinic  |  aivancity  |  AI Healthcare Compliance Across Countries</a:t>
            </a:r>
          </a:p>
        </p:txBody>
      </p:sp>
      <p:pic>
        <p:nvPicPr>
          <p:cNvPr id="8" name="Picture 7" descr="peer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34440"/>
            <a:ext cx="6400800" cy="3390506"/>
          </a:xfrm>
          <a:prstGeom prst="rect">
            <a:avLst/>
          </a:prstGeom>
        </p:spPr>
      </p:pic>
      <p:pic>
        <p:nvPicPr>
          <p:cNvPr id="9" name="Picture 8" descr="radar_top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0" y="1280160"/>
            <a:ext cx="5029200" cy="435890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" y="589788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4A4A"/>
                </a:solidFill>
                <a:latin typeface="Calibri"/>
              </a:defRPr>
            </a:pPr>
            <a:r>
              <a:t>US/EU lead most themes; India and South Africa lag on validation, post-market, and liability. Radar shape shows theme strengths differ even among top scorers.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D2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C5A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56032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Table: country compliance scores (top 12 + bottom 3)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4A4A"/>
                </a:solidFill>
                <a:latin typeface="Calibri"/>
              </a:defRPr>
            </a:pPr>
            <a:r>
              <a:t>AI Clinic  |  aivancity  |  AI Healthcare Compliance Across Countries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143000"/>
            <a:ext cx="2011680" cy="301752"/>
          </a:xfrm>
          <a:prstGeom prst="rect">
            <a:avLst/>
          </a:prstGeom>
          <a:solidFill>
            <a:srgbClr val="1D2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Country</a:t>
            </a:r>
          </a:p>
        </p:txBody>
      </p:sp>
      <p:sp>
        <p:nvSpPr>
          <p:cNvPr id="9" name="Rectangle 8"/>
          <p:cNvSpPr/>
          <p:nvPr/>
        </p:nvSpPr>
        <p:spPr>
          <a:xfrm>
            <a:off x="2331720" y="1143000"/>
            <a:ext cx="868680" cy="301752"/>
          </a:xfrm>
          <a:prstGeom prst="rect">
            <a:avLst/>
          </a:prstGeom>
          <a:solidFill>
            <a:srgbClr val="1D2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Overall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0" y="1143000"/>
            <a:ext cx="777240" cy="301752"/>
          </a:xfrm>
          <a:prstGeom prst="rect">
            <a:avLst/>
          </a:prstGeom>
          <a:solidFill>
            <a:srgbClr val="1D2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Priv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977640" y="1143000"/>
            <a:ext cx="777240" cy="301752"/>
          </a:xfrm>
          <a:prstGeom prst="rect">
            <a:avLst/>
          </a:prstGeom>
          <a:solidFill>
            <a:srgbClr val="1D2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Clin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54880" y="1143000"/>
            <a:ext cx="777240" cy="301752"/>
          </a:xfrm>
          <a:prstGeom prst="rect">
            <a:avLst/>
          </a:prstGeom>
          <a:solidFill>
            <a:srgbClr val="1D2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Appr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532120" y="1143000"/>
            <a:ext cx="777240" cy="301752"/>
          </a:xfrm>
          <a:prstGeom prst="rect">
            <a:avLst/>
          </a:prstGeom>
          <a:solidFill>
            <a:srgbClr val="1D2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Trans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1143000"/>
            <a:ext cx="777240" cy="301752"/>
          </a:xfrm>
          <a:prstGeom prst="rect">
            <a:avLst/>
          </a:prstGeom>
          <a:solidFill>
            <a:srgbClr val="1D2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Eth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086600" y="1143000"/>
            <a:ext cx="777240" cy="301752"/>
          </a:xfrm>
          <a:prstGeom prst="rect">
            <a:avLst/>
          </a:prstGeom>
          <a:solidFill>
            <a:srgbClr val="1D2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Post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863840" y="1143000"/>
            <a:ext cx="777240" cy="301752"/>
          </a:xfrm>
          <a:prstGeom prst="rect">
            <a:avLst/>
          </a:prstGeom>
          <a:solidFill>
            <a:srgbClr val="1D2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Liab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41080" y="1143000"/>
            <a:ext cx="1371600" cy="301752"/>
          </a:xfrm>
          <a:prstGeom prst="rect">
            <a:avLst/>
          </a:prstGeom>
          <a:solidFill>
            <a:srgbClr val="1D2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Maturity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1444752"/>
            <a:ext cx="201168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000">
                <a:solidFill>
                  <a:srgbClr val="2A2A2A"/>
                </a:solidFill>
                <a:latin typeface="Calibri"/>
              </a:defRPr>
            </a:pPr>
            <a:r>
              <a:t>European Union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331720" y="1444752"/>
            <a:ext cx="86868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9.1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0" y="1444752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10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977640" y="1444752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9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754880" y="1444752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9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532120" y="1444752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9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09360" y="1444752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10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086600" y="1444752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9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863840" y="1444752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641080" y="1444752"/>
            <a:ext cx="137160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Advanced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0040" y="1746504"/>
            <a:ext cx="201168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000">
                <a:solidFill>
                  <a:srgbClr val="2A2A2A"/>
                </a:solidFill>
                <a:latin typeface="Calibri"/>
              </a:defRPr>
            </a:pPr>
            <a:r>
              <a:t>Germany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331720" y="1746504"/>
            <a:ext cx="86868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8.7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00400" y="1746504"/>
            <a:ext cx="77724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10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977640" y="1746504"/>
            <a:ext cx="77724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9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54880" y="1746504"/>
            <a:ext cx="77724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532120" y="1746504"/>
            <a:ext cx="77724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09360" y="1746504"/>
            <a:ext cx="77724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9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086600" y="1746504"/>
            <a:ext cx="77724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9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863840" y="1746504"/>
            <a:ext cx="77724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41080" y="1746504"/>
            <a:ext cx="137160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Advanced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20040" y="2048256"/>
            <a:ext cx="201168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000">
                <a:solidFill>
                  <a:srgbClr val="2A2A2A"/>
                </a:solidFill>
                <a:latin typeface="Calibri"/>
              </a:defRPr>
            </a:pPr>
            <a:r>
              <a:t>United States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331720" y="2048256"/>
            <a:ext cx="86868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7.6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200400" y="2048256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977640" y="2048256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9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754880" y="2048256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9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532120" y="2048256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309360" y="2048256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086600" y="2048256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863840" y="2048256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641080" y="2048256"/>
            <a:ext cx="137160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Advanced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20040" y="2350008"/>
            <a:ext cx="201168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000">
                <a:solidFill>
                  <a:srgbClr val="2A2A2A"/>
                </a:solidFill>
                <a:latin typeface="Calibri"/>
              </a:defRPr>
            </a:pPr>
            <a:r>
              <a:t>United Kingdom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331720" y="2350008"/>
            <a:ext cx="86868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7.1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200400" y="2350008"/>
            <a:ext cx="77724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977640" y="2350008"/>
            <a:ext cx="77724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754880" y="2350008"/>
            <a:ext cx="77724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532120" y="2350008"/>
            <a:ext cx="77724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309360" y="2350008"/>
            <a:ext cx="77724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086600" y="2350008"/>
            <a:ext cx="77724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863840" y="2350008"/>
            <a:ext cx="77724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641080" y="2350008"/>
            <a:ext cx="137160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Advanced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20040" y="2651760"/>
            <a:ext cx="201168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000">
                <a:solidFill>
                  <a:srgbClr val="2A2A2A"/>
                </a:solidFill>
                <a:latin typeface="Calibri"/>
              </a:defRPr>
            </a:pPr>
            <a:r>
              <a:t>Canada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331720" y="2651760"/>
            <a:ext cx="86868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7.1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200400" y="2651760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977640" y="2651760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54880" y="2651760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532120" y="2651760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309360" y="2651760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086600" y="2651760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863840" y="2651760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641080" y="2651760"/>
            <a:ext cx="137160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Advanced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20040" y="2953512"/>
            <a:ext cx="201168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000">
                <a:solidFill>
                  <a:srgbClr val="2A2A2A"/>
                </a:solidFill>
                <a:latin typeface="Calibri"/>
              </a:defRPr>
            </a:pPr>
            <a:r>
              <a:t>Japan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331720" y="2953512"/>
            <a:ext cx="86868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7.0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200400" y="2953512"/>
            <a:ext cx="77724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977640" y="2953512"/>
            <a:ext cx="77724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754880" y="2953512"/>
            <a:ext cx="77724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532120" y="2953512"/>
            <a:ext cx="77724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309360" y="2953512"/>
            <a:ext cx="77724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086600" y="2953512"/>
            <a:ext cx="77724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76" name="Rectangle 75"/>
          <p:cNvSpPr/>
          <p:nvPr/>
        </p:nvSpPr>
        <p:spPr>
          <a:xfrm>
            <a:off x="7863840" y="2953512"/>
            <a:ext cx="77724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641080" y="2953512"/>
            <a:ext cx="137160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Advanced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20040" y="3255264"/>
            <a:ext cx="201168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000">
                <a:solidFill>
                  <a:srgbClr val="2A2A2A"/>
                </a:solidFill>
                <a:latin typeface="Calibri"/>
              </a:defRPr>
            </a:pPr>
            <a:r>
              <a:t>Singapore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331720" y="3255264"/>
            <a:ext cx="86868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6.9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200400" y="3255264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977640" y="3255264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754880" y="3255264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83" name="Rectangle 82"/>
          <p:cNvSpPr/>
          <p:nvPr/>
        </p:nvSpPr>
        <p:spPr>
          <a:xfrm>
            <a:off x="5532120" y="3255264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309360" y="3255264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85" name="Rectangle 84"/>
          <p:cNvSpPr/>
          <p:nvPr/>
        </p:nvSpPr>
        <p:spPr>
          <a:xfrm>
            <a:off x="7086600" y="3255264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863840" y="3255264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87" name="Rectangle 86"/>
          <p:cNvSpPr/>
          <p:nvPr/>
        </p:nvSpPr>
        <p:spPr>
          <a:xfrm>
            <a:off x="8641080" y="3255264"/>
            <a:ext cx="137160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Advanced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20040" y="3557016"/>
            <a:ext cx="201168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000">
                <a:solidFill>
                  <a:srgbClr val="2A2A2A"/>
                </a:solidFill>
                <a:latin typeface="Calibri"/>
              </a:defRPr>
            </a:pPr>
            <a:r>
              <a:t>Switzerland</a:t>
            </a:r>
          </a:p>
        </p:txBody>
      </p:sp>
      <p:sp>
        <p:nvSpPr>
          <p:cNvPr id="89" name="Rectangle 88"/>
          <p:cNvSpPr/>
          <p:nvPr/>
        </p:nvSpPr>
        <p:spPr>
          <a:xfrm>
            <a:off x="2331720" y="3557016"/>
            <a:ext cx="86868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6.9</a:t>
            </a:r>
          </a:p>
        </p:txBody>
      </p:sp>
      <p:sp>
        <p:nvSpPr>
          <p:cNvPr id="90" name="Rectangle 89"/>
          <p:cNvSpPr/>
          <p:nvPr/>
        </p:nvSpPr>
        <p:spPr>
          <a:xfrm>
            <a:off x="3200400" y="3557016"/>
            <a:ext cx="77724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91" name="Rectangle 90"/>
          <p:cNvSpPr/>
          <p:nvPr/>
        </p:nvSpPr>
        <p:spPr>
          <a:xfrm>
            <a:off x="3977640" y="3557016"/>
            <a:ext cx="77724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92" name="Rectangle 91"/>
          <p:cNvSpPr/>
          <p:nvPr/>
        </p:nvSpPr>
        <p:spPr>
          <a:xfrm>
            <a:off x="4754880" y="3557016"/>
            <a:ext cx="77724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93" name="Rectangle 92"/>
          <p:cNvSpPr/>
          <p:nvPr/>
        </p:nvSpPr>
        <p:spPr>
          <a:xfrm>
            <a:off x="5532120" y="3557016"/>
            <a:ext cx="77724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309360" y="3557016"/>
            <a:ext cx="77724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7086600" y="3557016"/>
            <a:ext cx="77724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863840" y="3557016"/>
            <a:ext cx="77724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97" name="Rectangle 96"/>
          <p:cNvSpPr/>
          <p:nvPr/>
        </p:nvSpPr>
        <p:spPr>
          <a:xfrm>
            <a:off x="8641080" y="3557016"/>
            <a:ext cx="137160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Advanced</a:t>
            </a:r>
          </a:p>
        </p:txBody>
      </p:sp>
      <p:sp>
        <p:nvSpPr>
          <p:cNvPr id="98" name="Rectangle 97"/>
          <p:cNvSpPr/>
          <p:nvPr/>
        </p:nvSpPr>
        <p:spPr>
          <a:xfrm>
            <a:off x="320040" y="3858768"/>
            <a:ext cx="201168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000">
                <a:solidFill>
                  <a:srgbClr val="2A2A2A"/>
                </a:solidFill>
                <a:latin typeface="Calibri"/>
              </a:defRPr>
            </a:pPr>
            <a:r>
              <a:t>China</a:t>
            </a:r>
          </a:p>
        </p:txBody>
      </p:sp>
      <p:sp>
        <p:nvSpPr>
          <p:cNvPr id="99" name="Rectangle 98"/>
          <p:cNvSpPr/>
          <p:nvPr/>
        </p:nvSpPr>
        <p:spPr>
          <a:xfrm>
            <a:off x="2331720" y="3858768"/>
            <a:ext cx="86868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6.7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3200400" y="3858768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3977640" y="3858768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4754880" y="3858768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5532120" y="3858768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58768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7086600" y="3858768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7863840" y="3858768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8641080" y="3858768"/>
            <a:ext cx="137160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Advanced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320040" y="4160520"/>
            <a:ext cx="201168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000">
                <a:solidFill>
                  <a:srgbClr val="2A2A2A"/>
                </a:solidFill>
                <a:latin typeface="Calibri"/>
              </a:defRPr>
            </a:pPr>
            <a:r>
              <a:t>Australia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2331720" y="4160520"/>
            <a:ext cx="86868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6.6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3200400" y="4160520"/>
            <a:ext cx="77724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3977640" y="4160520"/>
            <a:ext cx="77724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4754880" y="4160520"/>
            <a:ext cx="77724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5532120" y="4160520"/>
            <a:ext cx="77724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6309360" y="4160520"/>
            <a:ext cx="77724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7086600" y="4160520"/>
            <a:ext cx="77724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7863840" y="4160520"/>
            <a:ext cx="77724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8641080" y="4160520"/>
            <a:ext cx="137160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Moderate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20040" y="4462272"/>
            <a:ext cx="201168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000">
                <a:solidFill>
                  <a:srgbClr val="2A2A2A"/>
                </a:solidFill>
                <a:latin typeface="Calibri"/>
              </a:defRPr>
            </a:pPr>
            <a:r>
              <a:t>South Korea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2331720" y="4462272"/>
            <a:ext cx="86868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6.6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3200400" y="4462272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3977640" y="4462272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4754880" y="4462272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5532120" y="4462272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309360" y="4462272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7086600" y="4462272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7863840" y="4462272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8641080" y="4462272"/>
            <a:ext cx="137160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Advanced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320040" y="4764024"/>
            <a:ext cx="201168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000">
                <a:solidFill>
                  <a:srgbClr val="2A2A2A"/>
                </a:solidFill>
                <a:latin typeface="Calibri"/>
              </a:defRPr>
            </a:pPr>
            <a:r>
              <a:t>Israel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2331720" y="4764024"/>
            <a:ext cx="86868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6.3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200400" y="4764024"/>
            <a:ext cx="77724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3977640" y="4764024"/>
            <a:ext cx="77724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4754880" y="4764024"/>
            <a:ext cx="77724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532120" y="4764024"/>
            <a:ext cx="77724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6309360" y="4764024"/>
            <a:ext cx="77724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7086600" y="4764024"/>
            <a:ext cx="77724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7863840" y="4764024"/>
            <a:ext cx="77724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8641080" y="4764024"/>
            <a:ext cx="137160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Advanced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320040" y="5065776"/>
            <a:ext cx="201168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000">
                <a:solidFill>
                  <a:srgbClr val="2A2A2A"/>
                </a:solidFill>
                <a:latin typeface="Calibri"/>
              </a:defRPr>
            </a:pPr>
            <a:r>
              <a:t>South Africa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2331720" y="5065776"/>
            <a:ext cx="86868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3.6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3200400" y="5065776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3977640" y="5065776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4754880" y="5065776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5532120" y="5065776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309360" y="5065776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7086600" y="5065776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7863840" y="5065776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641080" y="5065776"/>
            <a:ext cx="137160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Emerging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320040" y="5367528"/>
            <a:ext cx="201168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000">
                <a:solidFill>
                  <a:srgbClr val="2A2A2A"/>
                </a:solidFill>
                <a:latin typeface="Calibri"/>
              </a:defRPr>
            </a:pPr>
            <a:r>
              <a:t>Kenya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2331720" y="5367528"/>
            <a:ext cx="86868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2.7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3200400" y="5367528"/>
            <a:ext cx="77724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3977640" y="5367528"/>
            <a:ext cx="77724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4754880" y="5367528"/>
            <a:ext cx="77724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5532120" y="5367528"/>
            <a:ext cx="77724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6309360" y="5367528"/>
            <a:ext cx="77724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7086600" y="5367528"/>
            <a:ext cx="77724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7863840" y="5367528"/>
            <a:ext cx="77724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8641080" y="5367528"/>
            <a:ext cx="137160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Early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320040" y="5669280"/>
            <a:ext cx="201168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000">
                <a:solidFill>
                  <a:srgbClr val="2A2A2A"/>
                </a:solidFill>
                <a:latin typeface="Calibri"/>
              </a:defRPr>
            </a:pPr>
            <a:r>
              <a:t>Nigeria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2331720" y="5669280"/>
            <a:ext cx="86868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2.6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3200400" y="5669280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3977640" y="5669280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4754880" y="5669280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5532120" y="5669280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309360" y="5669280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7086600" y="5669280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7863840" y="5669280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8641080" y="5669280"/>
            <a:ext cx="137160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Early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D2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C5A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56032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Headline results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4A4A"/>
                </a:solidFill>
                <a:latin typeface="Calibri"/>
              </a:defRPr>
            </a:pPr>
            <a:r>
              <a:t>AI Clinic  |  aivancity  |  AI Healthcare Compliance Across Countries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28016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>
                <a:solidFill>
                  <a:srgbClr val="2A2A2A"/>
                </a:solidFill>
                <a:latin typeface="Calibri"/>
              </a:defRPr>
            </a:pPr>
            <a:r>
              <a:t>Sample: 20 jurisdictions · 7 themes · maturity distribution includes 11 Advanced and 2 Early.</a:t>
            </a:r>
          </a:p>
          <a:p>
            <a:pPr>
              <a:spcAft>
                <a:spcPts val="1200"/>
              </a:spcAft>
              <a:defRPr sz="1600">
                <a:solidFill>
                  <a:srgbClr val="2A2A2A"/>
                </a:solidFill>
                <a:latin typeface="Calibri"/>
              </a:defRPr>
            </a:pPr>
            <a:r>
              <a:t>Top overall: European Union (9.1), Germany (8.7), United States (7.6).</a:t>
            </a:r>
          </a:p>
          <a:p>
            <a:pPr>
              <a:spcAft>
                <a:spcPts val="1200"/>
              </a:spcAft>
              <a:defRPr sz="1600">
                <a:solidFill>
                  <a:srgbClr val="2A2A2A"/>
                </a:solidFill>
                <a:latin typeface="Calibri"/>
              </a:defRPr>
            </a:pPr>
            <a:r>
              <a:t>Europe leads privacy/ethics/transparency; United States leads clinical validation and approval volume.</a:t>
            </a:r>
          </a:p>
          <a:p>
            <a:pPr>
              <a:spcAft>
                <a:spcPts val="1200"/>
              </a:spcAft>
              <a:defRPr sz="1600">
                <a:solidFill>
                  <a:srgbClr val="2A2A2A"/>
                </a:solidFill>
                <a:latin typeface="Calibri"/>
              </a:defRPr>
            </a:pPr>
            <a:r>
              <a:t>Asia is heterogeneous: Japan/Singapore/China Advanced; India/Thailand Developing.</a:t>
            </a:r>
          </a:p>
          <a:p>
            <a:pPr>
              <a:spcAft>
                <a:spcPts val="1200"/>
              </a:spcAft>
              <a:defRPr sz="1600">
                <a:solidFill>
                  <a:srgbClr val="2A2A2A"/>
                </a:solidFill>
                <a:latin typeface="Calibri"/>
              </a:defRPr>
            </a:pPr>
            <a:r>
              <a:t>Africa: South Africa Emerging; Kenya &amp; Nigeria Early  -  privacy statutes alone do not raise overall AI healthcare compliance.</a:t>
            </a:r>
          </a:p>
          <a:p>
            <a:pPr>
              <a:spcAft>
                <a:spcPts val="1200"/>
              </a:spcAft>
              <a:defRPr sz="1600">
                <a:solidFill>
                  <a:srgbClr val="2A2A2A"/>
                </a:solidFill>
                <a:latin typeface="Calibri"/>
              </a:defRPr>
            </a:pPr>
            <a:r>
              <a:t>Weakest global pillars: post-market surveillance and liability (lifecycle &amp; accountability).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D2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C5A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56032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What we mean by gaps and convergence trends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4A4A"/>
                </a:solidFill>
                <a:latin typeface="Calibri"/>
              </a:defRPr>
            </a:pPr>
            <a:r>
              <a:t>AI Clinic  |  aivancity  |  AI Healthcare Compliance Across Countries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280160"/>
            <a:ext cx="5394960" cy="4754880"/>
          </a:xfrm>
          <a:prstGeom prst="round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6304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D2A4D"/>
                </a:solidFill>
                <a:latin typeface="Calibri"/>
              </a:defRPr>
            </a:pPr>
            <a:r>
              <a:t>Gaps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103120"/>
            <a:ext cx="49377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2A2A2A"/>
                </a:solidFill>
                <a:latin typeface="Calibri"/>
              </a:defRPr>
            </a:pPr>
            <a:r>
              <a:t>Gap = max(country score) − min(country score) on one theme.</a:t>
            </a:r>
          </a:p>
          <a:p>
            <a:pPr>
              <a:spcAft>
                <a:spcPts val="1000"/>
              </a:spcAft>
              <a:defRPr sz="1400">
                <a:solidFill>
                  <a:srgbClr val="2A2A2A"/>
                </a:solidFill>
                <a:latin typeface="Calibri"/>
              </a:defRPr>
            </a:pPr>
            <a:r>
              <a:t>Large gap = divergence zone.</a:t>
            </a:r>
          </a:p>
          <a:p>
            <a:pPr>
              <a:spcAft>
                <a:spcPts val="1000"/>
              </a:spcAft>
              <a:defRPr sz="1400">
                <a:solidFill>
                  <a:srgbClr val="2A2A2A"/>
                </a:solidFill>
                <a:latin typeface="Calibri"/>
              </a:defRPr>
            </a:pPr>
            <a:r>
              <a:t>Useful for multi-country evidence strategy.</a:t>
            </a:r>
          </a:p>
          <a:p>
            <a:pPr>
              <a:spcAft>
                <a:spcPts val="1000"/>
              </a:spcAft>
              <a:defRPr sz="1400">
                <a:solidFill>
                  <a:srgbClr val="2A2A2A"/>
                </a:solidFill>
                <a:latin typeface="Calibri"/>
              </a:defRPr>
            </a:pPr>
            <a:r>
              <a:t>Widest gaps often: clinical validation &amp; transparency.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280160"/>
            <a:ext cx="5394960" cy="4754880"/>
          </a:xfrm>
          <a:prstGeom prst="round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46304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D2A4D"/>
                </a:solidFill>
                <a:latin typeface="Calibri"/>
              </a:defRPr>
            </a:pPr>
            <a:r>
              <a:t>Convergence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03120"/>
            <a:ext cx="49377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2A2A2A"/>
                </a:solidFill>
                <a:latin typeface="Calibri"/>
              </a:defRPr>
            </a:pPr>
            <a:r>
              <a:t>Not identical laws  -  shared principles &amp; tools.</a:t>
            </a:r>
          </a:p>
          <a:p>
            <a:pPr>
              <a:spcAft>
                <a:spcPts val="1000"/>
              </a:spcAft>
              <a:defRPr sz="1400">
                <a:solidFill>
                  <a:srgbClr val="2A2A2A"/>
                </a:solidFill>
                <a:latin typeface="Calibri"/>
              </a:defRPr>
            </a:pPr>
            <a:r>
              <a:t>Risk-based SaMD classification (IMDRF-style).</a:t>
            </a:r>
          </a:p>
          <a:p>
            <a:pPr>
              <a:spcAft>
                <a:spcPts val="1000"/>
              </a:spcAft>
              <a:defRPr sz="1400">
                <a:solidFill>
                  <a:srgbClr val="2A2A2A"/>
                </a:solidFill>
                <a:latin typeface="Calibri"/>
              </a:defRPr>
            </a:pPr>
            <a:r>
              <a:t>GDPR-like health-data protection.</a:t>
            </a:r>
          </a:p>
          <a:p>
            <a:pPr>
              <a:spcAft>
                <a:spcPts val="1000"/>
              </a:spcAft>
              <a:defRPr sz="1400">
                <a:solidFill>
                  <a:srgbClr val="2A2A2A"/>
                </a:solidFill>
                <a:latin typeface="Calibri"/>
              </a:defRPr>
            </a:pPr>
            <a:r>
              <a:t>GMLP / lifecycle / PCCP thinking.</a:t>
            </a:r>
          </a:p>
          <a:p>
            <a:pPr>
              <a:spcAft>
                <a:spcPts val="1000"/>
              </a:spcAft>
              <a:defRPr sz="1400">
                <a:solidFill>
                  <a:srgbClr val="2A2A2A"/>
                </a:solidFill>
                <a:latin typeface="Calibri"/>
              </a:defRPr>
            </a:pPr>
            <a:r>
              <a:t>Shift from voluntary ethics toward binding rules (e.g. EU AI Act).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D2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C5A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56032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Table: selected global trends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4A4A"/>
                </a:solidFill>
                <a:latin typeface="Calibri"/>
              </a:defRPr>
            </a:pPr>
            <a:r>
              <a:t>AI Clinic  |  aivancity  |  AI Healthcare Compliance Across Countries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234440"/>
            <a:ext cx="3291840" cy="502920"/>
          </a:xfrm>
          <a:prstGeom prst="rect">
            <a:avLst/>
          </a:prstGeom>
          <a:solidFill>
            <a:srgbClr val="1D2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Trend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0" y="1234440"/>
            <a:ext cx="1097280" cy="502920"/>
          </a:xfrm>
          <a:prstGeom prst="rect">
            <a:avLst/>
          </a:prstGeom>
          <a:solidFill>
            <a:srgbClr val="1D2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Adoption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54880" y="1234440"/>
            <a:ext cx="914400" cy="502920"/>
          </a:xfrm>
          <a:prstGeom prst="rect">
            <a:avLst/>
          </a:prstGeom>
          <a:solidFill>
            <a:srgbClr val="1D2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Since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0" y="1234440"/>
            <a:ext cx="5943600" cy="502920"/>
          </a:xfrm>
          <a:prstGeom prst="rect">
            <a:avLst/>
          </a:prstGeom>
          <a:solidFill>
            <a:srgbClr val="1D2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Description (short)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1737360"/>
            <a:ext cx="3291840" cy="502920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000">
                <a:solidFill>
                  <a:srgbClr val="2A2A2A"/>
                </a:solidFill>
                <a:latin typeface="Calibri"/>
              </a:defRPr>
            </a:pPr>
            <a:r>
              <a:t>Convergence on Risk-Based Regulation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0" y="1737360"/>
            <a:ext cx="1097280" cy="502920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High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54880" y="1737360"/>
            <a:ext cx="914400" cy="502920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2017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0" y="1737360"/>
            <a:ext cx="5943600" cy="502920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Most jurisdictions adopting risk-based classification of AI medical de…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240280"/>
            <a:ext cx="329184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000">
                <a:solidFill>
                  <a:srgbClr val="2A2A2A"/>
                </a:solidFill>
                <a:latin typeface="Calibri"/>
              </a:defRPr>
            </a:pPr>
            <a:r>
              <a:t>Comprehensive Data Protection Laws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0" y="2240280"/>
            <a:ext cx="109728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High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54880" y="2240280"/>
            <a:ext cx="91440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2018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0" y="2240280"/>
            <a:ext cx="594360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Post-GDPR wave of national data protection laws with health data as se…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743200"/>
            <a:ext cx="3291840" cy="502920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000">
                <a:solidFill>
                  <a:srgbClr val="2A2A2A"/>
                </a:solidFill>
                <a:latin typeface="Calibri"/>
              </a:defRPr>
            </a:pPr>
            <a:r>
              <a:t>AI-Specific Legislation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0" y="2743200"/>
            <a:ext cx="1097280" cy="502920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Medium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754880" y="2743200"/>
            <a:ext cx="914400" cy="502920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2021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0" y="2743200"/>
            <a:ext cx="5943600" cy="502920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Growing trend toward dedicated AI laws (EU AI Act leading, followed by…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3246120"/>
            <a:ext cx="329184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000">
                <a:solidFill>
                  <a:srgbClr val="2A2A2A"/>
                </a:solidFill>
                <a:latin typeface="Calibri"/>
              </a:defRPr>
            </a:pPr>
            <a:r>
              <a:t>International Harmonization Efforts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0" y="3246120"/>
            <a:ext cx="109728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Medium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54880" y="3246120"/>
            <a:ext cx="91440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2019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669280" y="3246120"/>
            <a:ext cx="594360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IMDRF, GMLP (FDA-Health Canada-MHRA), and WHO guidance driving converg…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3749040"/>
            <a:ext cx="3291840" cy="502920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000">
                <a:solidFill>
                  <a:srgbClr val="2A2A2A"/>
                </a:solidFill>
                <a:latin typeface="Calibri"/>
              </a:defRPr>
            </a:pPr>
            <a:r>
              <a:t>Ethical AI Frameworks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0" y="3749040"/>
            <a:ext cx="1097280" cy="502920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High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754880" y="3749040"/>
            <a:ext cx="914400" cy="502920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2018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0" y="3749040"/>
            <a:ext cx="5943600" cy="502920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Proliferation of national AI ethics principles, mostly voluntary, incr…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4251960"/>
            <a:ext cx="329184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000">
                <a:solidFill>
                  <a:srgbClr val="2A2A2A"/>
                </a:solidFill>
                <a:latin typeface="Calibri"/>
              </a:defRPr>
            </a:pPr>
            <a:r>
              <a:t>Regulatory Sandboxes for Health AI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0" y="4251960"/>
            <a:ext cx="109728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Low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754880" y="4251960"/>
            <a:ext cx="91440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2020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69280" y="4251960"/>
            <a:ext cx="594360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Controlled testing environments for innovative AI devices before full …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4754880"/>
            <a:ext cx="3291840" cy="502920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000">
                <a:solidFill>
                  <a:srgbClr val="2A2A2A"/>
                </a:solidFill>
                <a:latin typeface="Calibri"/>
              </a:defRPr>
            </a:pPr>
            <a:r>
              <a:t>Real-World Evidence Acceptance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0" y="4754880"/>
            <a:ext cx="1097280" cy="502920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Medium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754880" y="4754880"/>
            <a:ext cx="914400" cy="502920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2019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669280" y="4754880"/>
            <a:ext cx="5943600" cy="502920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Growing regulatory acceptance of real-world data and evidence for AI d…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5257800"/>
            <a:ext cx="329184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000">
                <a:solidFill>
                  <a:srgbClr val="2A2A2A"/>
                </a:solidFill>
                <a:latin typeface="Calibri"/>
              </a:defRPr>
            </a:pPr>
            <a:r>
              <a:t>Adaptive Algorithm Governance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0" y="5257800"/>
            <a:ext cx="109728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Low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754880" y="5257800"/>
            <a:ext cx="91440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2021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669280" y="5257800"/>
            <a:ext cx="594360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Frameworks for managing continuously learning AI systems (e.g., FDA Pr…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D2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C5A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56032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Interactive dashboard artefact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4A4A"/>
                </a:solidFill>
                <a:latin typeface="Calibri"/>
              </a:defRPr>
            </a:pPr>
            <a:r>
              <a:t>AI Clinic  |  aivancity  |  AI Healthcare Compliance Across Countries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>
                <a:solidFill>
                  <a:srgbClr val="2A2A2A"/>
                </a:solidFill>
                <a:latin typeface="Calibri"/>
              </a:defRPr>
            </a:pPr>
            <a:r>
              <a:t>Public web app (React + TypeScript + Recharts + maps), hosted on GitHub Pages.</a:t>
            </a:r>
          </a:p>
          <a:p>
            <a:pPr>
              <a:spcAft>
                <a:spcPts val="1400"/>
              </a:spcAft>
              <a:defRPr sz="1600">
                <a:solidFill>
                  <a:srgbClr val="2A2A2A"/>
                </a:solidFill>
                <a:latin typeface="Calibri"/>
              </a:defRPr>
            </a:pPr>
            <a:r>
              <a:t>Tabs: Overview · Theme Analysis · Comparison · Trends &amp; Use Cases · Country Detail · Literature.</a:t>
            </a:r>
          </a:p>
          <a:p>
            <a:pPr>
              <a:spcAft>
                <a:spcPts val="1400"/>
              </a:spcAft>
              <a:defRPr sz="1600">
                <a:solidFill>
                  <a:srgbClr val="2A2A2A"/>
                </a:solidFill>
                <a:latin typeface="Calibri"/>
              </a:defRPr>
            </a:pPr>
            <a:r>
              <a:t>Filters by region, maturity, and themes recalculate overall scores and gaps instantly.</a:t>
            </a:r>
          </a:p>
          <a:p>
            <a:pPr>
              <a:spcAft>
                <a:spcPts val="1400"/>
              </a:spcAft>
              <a:defRPr sz="1600">
                <a:solidFill>
                  <a:srgbClr val="2A2A2A"/>
                </a:solidFill>
                <a:latin typeface="Calibri"/>
              </a:defRPr>
            </a:pPr>
            <a:r>
              <a:t>Live URL: https://remi7025.github.io/AI-Healthcare-Compliance-Dashboard/</a:t>
            </a:r>
          </a:p>
          <a:p>
            <a:pPr>
              <a:spcAft>
                <a:spcPts val="1400"/>
              </a:spcAft>
              <a:defRPr sz="1600">
                <a:solidFill>
                  <a:srgbClr val="2A2A2A"/>
                </a:solidFill>
                <a:latin typeface="Calibri"/>
              </a:defRPr>
            </a:pPr>
            <a:r>
              <a:t>Canonical data: data/compliance_dataset.json (same source as this presentation's tables).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D2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C5A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56032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Future impact  -  how this work helps improve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4A4A"/>
                </a:solidFill>
                <a:latin typeface="Calibri"/>
              </a:defRPr>
            </a:pPr>
            <a:r>
              <a:t>AI Clinic  |  aivancity  |  AI Healthcare Compliance Across Countries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28016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500">
                <a:solidFill>
                  <a:srgbClr val="2A2A2A"/>
                </a:solidFill>
                <a:latin typeface="Calibri"/>
              </a:defRPr>
            </a:pPr>
            <a:r>
              <a:t>For developers: choose first markets by theme strength (e.g. validation-heavy imaging → US/EU).</a:t>
            </a:r>
          </a:p>
          <a:p>
            <a:pPr>
              <a:spcAft>
                <a:spcPts val="1100"/>
              </a:spcAft>
              <a:defRPr sz="1500">
                <a:solidFill>
                  <a:srgbClr val="2A2A2A"/>
                </a:solidFill>
                <a:latin typeface="Calibri"/>
              </a:defRPr>
            </a:pPr>
            <a:r>
              <a:t>For policymakers: see where gaps are largest (validation, post-market, liability) and prioritise capacity building.</a:t>
            </a:r>
          </a:p>
          <a:p>
            <a:pPr>
              <a:spcAft>
                <a:spcPts val="1100"/>
              </a:spcAft>
              <a:defRPr sz="1500">
                <a:solidFill>
                  <a:srgbClr val="2A2A2A"/>
                </a:solidFill>
                <a:latin typeface="Calibri"/>
              </a:defRPr>
            </a:pPr>
            <a:r>
              <a:t>For researchers &amp; students: reproducible open dataset + dashboard for teaching comparative AI governance.</a:t>
            </a:r>
          </a:p>
          <a:p>
            <a:pPr>
              <a:spcAft>
                <a:spcPts val="1100"/>
              </a:spcAft>
              <a:defRPr sz="1500">
                <a:solidFill>
                  <a:srgbClr val="2A2A2A"/>
                </a:solidFill>
                <a:latin typeface="Calibri"/>
              </a:defRPr>
            </a:pPr>
            <a:r>
              <a:t>For hospitals/clinics: link use-case readiness (radiology, genomics…) to local regulatory maturity.</a:t>
            </a:r>
          </a:p>
          <a:p>
            <a:pPr>
              <a:spcAft>
                <a:spcPts val="1100"/>
              </a:spcAft>
              <a:defRPr sz="1500">
                <a:solidFill>
                  <a:srgbClr val="2A2A2A"/>
                </a:solidFill>
                <a:latin typeface="Calibri"/>
              </a:defRPr>
            </a:pPr>
            <a:r>
              <a:t>Future upgrades: live regulatory feeds, Delphi expert scoring, more Latin America &amp; African regulators,</a:t>
            </a:r>
          </a:p>
          <a:p>
            <a:pPr>
              <a:spcAft>
                <a:spcPts val="1100"/>
              </a:spcAft>
              <a:defRPr sz="1500">
                <a:solidFill>
                  <a:srgbClr val="2A2A2A"/>
                </a:solidFill>
                <a:latin typeface="Calibri"/>
              </a:defRPr>
            </a:pPr>
            <a:r>
              <a:t>and a dedicated evaluation track for foundation-model medical products.</a:t>
            </a:r>
          </a:p>
          <a:p>
            <a:pPr>
              <a:spcAft>
                <a:spcPts val="1100"/>
              </a:spcAft>
              <a:defRPr sz="1500">
                <a:solidFill>
                  <a:srgbClr val="2A2A2A"/>
                </a:solidFill>
                <a:latin typeface="Calibri"/>
              </a:defRPr>
            </a:pPr>
            <a:r>
              <a:t>Net effect: faster, safer, more transparent market access decisions and clearer reform priorities.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D2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C5A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56032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Recommendations (synthesised from WHO, IMDRF, GMLP, EU AI Act, NIST, literature)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4A4A"/>
                </a:solidFill>
                <a:latin typeface="Calibri"/>
              </a:defRPr>
            </a:pPr>
            <a:r>
              <a:t>AI Clinic  |  aivancity  |  AI Healthcare Compliance Across Countries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28016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500">
                <a:solidFill>
                  <a:srgbClr val="2A2A2A"/>
                </a:solidFill>
                <a:latin typeface="Calibri"/>
              </a:defRPr>
            </a:pPr>
            <a:r>
              <a:t>1. Expand IMDRF/WHO coordination on AI-specific clinical-evidence methods.</a:t>
            </a:r>
          </a:p>
          <a:p>
            <a:pPr>
              <a:spcAft>
                <a:spcPts val="1100"/>
              </a:spcAft>
              <a:defRPr sz="1500">
                <a:solidFill>
                  <a:srgbClr val="2A2A2A"/>
                </a:solidFill>
                <a:latin typeface="Calibri"/>
              </a:defRPr>
            </a:pPr>
            <a:r>
              <a:t>2. Build regulatory capacity in developing countries (technical assistance, mutual-recognition pilots).</a:t>
            </a:r>
          </a:p>
          <a:p>
            <a:pPr>
              <a:spcAft>
                <a:spcPts val="1100"/>
              </a:spcAft>
              <a:defRPr sz="1500">
                <a:solidFill>
                  <a:srgbClr val="2A2A2A"/>
                </a:solidFill>
                <a:latin typeface="Calibri"/>
              </a:defRPr>
            </a:pPr>
            <a:r>
              <a:t>3. Operationalise ethics through measurable fairness, monitoring, and documentation standards.</a:t>
            </a:r>
          </a:p>
          <a:p>
            <a:pPr>
              <a:spcAft>
                <a:spcPts val="1100"/>
              </a:spcAft>
              <a:defRPr sz="1500">
                <a:solidFill>
                  <a:srgbClr val="2A2A2A"/>
                </a:solidFill>
                <a:latin typeface="Calibri"/>
              </a:defRPr>
            </a:pPr>
            <a:r>
              <a:t>4. Update liability frameworks before harm cases proliferate.</a:t>
            </a:r>
          </a:p>
          <a:p>
            <a:pPr>
              <a:spcAft>
                <a:spcPts val="1100"/>
              </a:spcAft>
              <a:defRPr sz="1500">
                <a:solidFill>
                  <a:srgbClr val="2A2A2A"/>
                </a:solidFill>
                <a:latin typeface="Calibri"/>
              </a:defRPr>
            </a:pPr>
            <a:r>
              <a:t>5. Maintain public dashboards and open datasets for transparent comparative research.</a:t>
            </a:r>
          </a:p>
          <a:p>
            <a:pPr>
              <a:spcAft>
                <a:spcPts val="1100"/>
              </a:spcAft>
              <a:defRPr sz="1500">
                <a:solidFill>
                  <a:srgbClr val="2A2A2A"/>
                </a:solidFill>
                <a:latin typeface="Calibri"/>
              </a:defRPr>
            </a:pPr>
            <a:r>
              <a:t>6. Treat foundation-model medical products as a dedicated evaluation track.</a:t>
            </a:r>
          </a:p>
          <a:p>
            <a:pPr>
              <a:spcAft>
                <a:spcPts val="1100"/>
              </a:spcAft>
              <a:defRPr sz="1500">
                <a:solidFill>
                  <a:srgbClr val="2A2A2A"/>
                </a:solidFill>
                <a:latin typeface="Calibri"/>
              </a:defRPr>
            </a:pPr>
            <a:r>
              <a:t>Note: recommendations are a synthesis of the evidence base  -  not a new Delphi survey.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D2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C5A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56032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Limitations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4A4A"/>
                </a:solidFill>
                <a:latin typeface="Calibri"/>
              </a:defRPr>
            </a:pPr>
            <a:r>
              <a:t>AI Clinic  |  aivancity  |  AI Healthcare Compliance Across Countries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>
                <a:solidFill>
                  <a:srgbClr val="2A2A2A"/>
                </a:solidFill>
                <a:latin typeface="Calibri"/>
              </a:defRPr>
            </a:pPr>
            <a:r>
              <a:t>Scores are expert documentary syntheses and will drift as laws change.</a:t>
            </a:r>
          </a:p>
          <a:p>
            <a:pPr>
              <a:spcAft>
                <a:spcPts val="1400"/>
              </a:spcAft>
              <a:defRPr sz="1600">
                <a:solidFill>
                  <a:srgbClr val="2A2A2A"/>
                </a:solidFill>
                <a:latin typeface="Calibri"/>
              </a:defRPr>
            </a:pPr>
            <a:r>
              <a:t>Device-approval counts are incomplete where agencies do not publish AI-specific tallies.</a:t>
            </a:r>
          </a:p>
          <a:p>
            <a:pPr>
              <a:spcAft>
                <a:spcPts val="1400"/>
              </a:spcAft>
              <a:defRPr sz="1600">
                <a:solidFill>
                  <a:srgbClr val="2A2A2A"/>
                </a:solidFill>
                <a:latin typeface="Calibri"/>
              </a:defRPr>
            </a:pPr>
            <a:r>
              <a:t>Sample over-represents Advanced jurisdictions relative to the true world map.</a:t>
            </a:r>
          </a:p>
          <a:p>
            <a:pPr>
              <a:spcAft>
                <a:spcPts val="1400"/>
              </a:spcAft>
              <a:defRPr sz="1600">
                <a:solidFill>
                  <a:srgbClr val="2A2A2A"/>
                </a:solidFill>
                <a:latin typeface="Calibri"/>
              </a:defRPr>
            </a:pPr>
            <a:r>
              <a:t>Oceania and South America regional means rest on single countries (Australia, Brazil).</a:t>
            </a:r>
          </a:p>
          <a:p>
            <a:pPr>
              <a:spcAft>
                <a:spcPts val="1400"/>
              </a:spcAft>
              <a:defRPr sz="1600">
                <a:solidFill>
                  <a:srgbClr val="2A2A2A"/>
                </a:solidFill>
                <a:latin typeface="Calibri"/>
              </a:defRPr>
            </a:pPr>
            <a:r>
              <a:t>This is academic decision support  -  not legal advice for market authorisation.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D2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0" y="2606040"/>
            <a:ext cx="3931920" cy="73152"/>
          </a:xfrm>
          <a:prstGeom prst="rect">
            <a:avLst/>
          </a:prstGeom>
          <a:solidFill>
            <a:srgbClr val="C5A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Calibri"/>
              </a:defRPr>
            </a:pPr>
            <a: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92608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C5A045"/>
                </a:solidFill>
                <a:latin typeface="Calibri"/>
              </a:defRPr>
            </a:pPr>
            <a:r>
              <a:t>Questions &amp; Discussion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4048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Calibri"/>
              </a:defRPr>
            </a:pPr>
            <a:r>
              <a:t>Remi Uttejitha ALLAM  ·  Baptiste Langlois  ·  Tong Li  ·  Darryl Towa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34340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A8B8D0"/>
                </a:solidFill>
                <a:latin typeface="Calibri"/>
              </a:defRPr>
            </a:pPr>
            <a:r>
              <a:t>Supervisor: Dr. Anuradha Kar  |  aivancity School for Technology, Business &amp; Society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937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0A4C0"/>
                </a:solidFill>
                <a:latin typeface="Calibri"/>
              </a:defRPr>
            </a:pPr>
            <a:r>
              <a:t>Dashboard: remi7025.github.io/AI-Healthcare-Compliance-Dashboard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