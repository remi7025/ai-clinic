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5A045"/>
                </a:solidFill>
                <a:latin typeface="Calibri"/>
              </a:defRPr>
            </a:pPr>
            <a:r>
              <a:t>AI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for Healthcare Compliance and Regulations Across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D4E8"/>
                </a:solidFill>
                <a:latin typeface="Calibri"/>
              </a:defRPr>
            </a:pPr>
            <a:r>
              <a:t>Interactive Dashboard and Comparative Regulatory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Remi Uttejitha ALLAM  ·  Baptiste Langlois  ·  Tong Li  ·  Darryl Towa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B8D0"/>
                </a:solidFill>
                <a:latin typeface="Calibri"/>
              </a:defRPr>
            </a:pPr>
            <a:r>
              <a:t>Supervisor: Dr. Anuradha Kar  |  aivancity  |  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1. What is this project about?</a:t>
            </a:r>
          </a:p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2. Problem statement and objectives</a:t>
            </a:r>
          </a:p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3. Methodology pipeline (data → scores → dashboard)</a:t>
            </a:r>
          </a:p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4. Compliance scoring and maturity classes</a:t>
            </a:r>
          </a:p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5. Seven regulatory themes explained</a:t>
            </a:r>
          </a:p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6. Key results  -  tables and figures</a:t>
            </a:r>
          </a:p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7. Gaps, convergence, and recommendations</a:t>
            </a:r>
          </a:p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8. Future impact  -  how this work helps improve practice</a:t>
            </a:r>
          </a:p>
          <a:p>
            <a:pPr>
              <a:spcAft>
                <a:spcPts val="1200"/>
              </a:spcAft>
              <a:defRPr sz="1800">
                <a:solidFill>
                  <a:srgbClr val="2A2A2A"/>
                </a:solidFill>
                <a:latin typeface="Calibri"/>
              </a:defRPr>
            </a:pPr>
            <a:r>
              <a:t>9. Limitations and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What is this project about?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AI Clinic compares how different countries regulate artificial intelligence in healthcare, and turns that comparison into an interactive dashboard and research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2697480" cy="3566160"/>
          </a:xfrm>
          <a:prstGeom prst="roundRect">
            <a:avLst/>
          </a:prstGeom>
          <a:solidFill>
            <a:srgbClr val="F2F4F7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4D"/>
                </a:solidFill>
                <a:latin typeface="Calibri"/>
              </a:defRPr>
            </a:pPr>
            <a:r>
              <a:t>Literature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Policy and peer-reviewed sources on SaMD, privacy, ethics, and lifecycle governance (2018-2026).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468880"/>
            <a:ext cx="2697480" cy="3566160"/>
          </a:xfrm>
          <a:prstGeom prst="roundRect">
            <a:avLst/>
          </a:prstGeom>
          <a:solidFill>
            <a:srgbClr val="F2F4F7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6974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4D"/>
                </a:solidFill>
                <a:latin typeface="Calibri"/>
              </a:defRPr>
            </a:pPr>
            <a:r>
              <a:t>20-country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4290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Seven themes scored 1-10, maturity labels, device counts, challenges, and notable developments.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68880"/>
            <a:ext cx="2697480" cy="3566160"/>
          </a:xfrm>
          <a:prstGeom prst="roundRect">
            <a:avLst/>
          </a:prstGeom>
          <a:solidFill>
            <a:srgbClr val="F2F4F7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4D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290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Map, theme analysis, peer comparison, trends, country profiles, and literature browser.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468880"/>
            <a:ext cx="2697480" cy="3566160"/>
          </a:xfrm>
          <a:prstGeom prst="roundRect">
            <a:avLst/>
          </a:prstGeom>
          <a:solidFill>
            <a:srgbClr val="F2F4F7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6974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4D"/>
                </a:solidFill>
                <a:latin typeface="Calibri"/>
              </a:defRPr>
            </a:pPr>
            <a:r>
              <a:t>Research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4290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Method, results figures/tables, country profiles, conclusions, and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Problem: why does this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AI medical software (SaMD) is growing fast in imaging, clinical decision support, genomics, and drug discovery.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Rules are not the same everywhere: privacy laws, approval pathways, validation standards, and liability differ by country.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Public information is fragmented across statutes, agency guidance, ethics documents, and device lists.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Developers, policymakers, clinicians, and researchers need one structured, comparable view.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Our response: a coded comparative framework + live dashboard (decision support, not legal advice).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Synthesise literature and regulatory texts on AI healthcare compliance across 19 jurisdictions.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Define seven thematic dimensions and score maturity on a transparent 1-10 scale.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Build a curated, machine-readable dataset with regional metadata and global trends.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Implement an interactive dashboard for exploration, comparison, and literature browsing.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  <a:latin typeface="Calibri"/>
              </a:defRPr>
            </a:pPr>
            <a:r>
              <a:t>Document methodology, architecture, findings, and recommendations in the research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Methodology pipeline: data collection → score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A045"/>
                </a:solidFill>
                <a:latin typeface="Calibri"/>
              </a:defRPr>
            </a:pPr>
            <a:r>
              <a:t>1.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2344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19 jurisdictions across seven regions: North America, Europe, Asia, Middle East, Africa, Oceania, South America.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A045"/>
                </a:solidFill>
                <a:latin typeface="Calibri"/>
              </a:defRPr>
            </a:pPr>
            <a:r>
              <a:t>2. 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Primary: FDA, EMA, MHRA, NMPA, PMDA, WHO, IMDRF, GDPR/AI Act…</a:t>
            </a:r>
            <a:br/>
            <a:r>
              <a:t>Secondary: PubMed, Scopus, IEEE, Scholar, SSRN (2018-2026).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A045"/>
                </a:solidFill>
                <a:latin typeface="Calibri"/>
              </a:defRPr>
            </a:pPr>
            <a:r>
              <a:t>3.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6060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Same schema for every country: privacy, AI rule, device framework, approval, validation, ethics, post-market, liability…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918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A045"/>
                </a:solidFill>
                <a:latin typeface="Calibri"/>
              </a:defRPr>
            </a:pPr>
            <a:r>
              <a:t>4.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918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Assign 1-10 per theme using 4 criteria; assign qualitative maturity label separately.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77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A045"/>
                </a:solidFill>
                <a:latin typeface="Calibri"/>
              </a:defRPr>
            </a:pPr>
            <a:r>
              <a:t>5.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9776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Version-controlled JSON: data/compliance_dataset.json.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A045"/>
                </a:solidFill>
                <a:latin typeface="Calibri"/>
              </a:defRPr>
            </a:pPr>
            <a:r>
              <a:t>6. Derive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634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Dashboard computes overall mean, gaps (max−min), and use-case readiness.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49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A045"/>
                </a:solidFill>
                <a:latin typeface="Calibri"/>
              </a:defRPr>
            </a:pPr>
            <a:r>
              <a:t>7.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3492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2A2A"/>
                </a:solidFill>
                <a:latin typeface="Calibri"/>
              </a:defRPr>
            </a:pPr>
            <a:r>
              <a:t>Figures, tables, country profiles, conclusions.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Compliance score  -  what it is and how it is calculated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Each theme score is ordinal 1-10: 1 = little/no documented requirement; 10 = mature, enforceable practice.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Evidence mapped with four criteria: (1) law/guidance exists, (2) AI/SaMD specificity, (3) enforcement/reporting, (4) IMDRF/WHO/GMLP alignment.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Overall score = arithmetic mean of selected theme scores (rounded to 1 decimal).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Formula: Overall = (1/k) × Σ sᵢ   where k = number of selected themes.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Important: these are comparative research indicators  -  not official government ratings.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No machine-learning model invents scores at runtime; scores are curated from documentary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Seven dashboard variables (compliance themes)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2926080" cy="62179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280160"/>
            <a:ext cx="8046720" cy="62179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 it measures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01952"/>
            <a:ext cx="2926080" cy="62179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2A2A2A"/>
                </a:solidFill>
                <a:latin typeface="Calibri"/>
              </a:defRPr>
            </a:pPr>
            <a:r>
              <a:t>Data Privacy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901952"/>
            <a:ext cx="8046720" cy="62179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A2A2A"/>
                </a:solidFill>
                <a:latin typeface="Calibri"/>
              </a:defRPr>
            </a:pPr>
            <a:r>
              <a:t>Health-data protection laws, cross-border transfers, DPIAs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23744"/>
            <a:ext cx="2926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2A2A2A"/>
                </a:solidFill>
                <a:latin typeface="Calibri"/>
              </a:defRPr>
            </a:pPr>
            <a:r>
              <a:t>Clinical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23744"/>
            <a:ext cx="8046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A2A2A"/>
                </a:solidFill>
                <a:latin typeface="Calibri"/>
              </a:defRPr>
            </a:pPr>
            <a:r>
              <a:t>Evidence standards, clinical evaluation, bias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45536"/>
            <a:ext cx="2926080" cy="62179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2A2A2A"/>
                </a:solidFill>
                <a:latin typeface="Calibri"/>
              </a:defRPr>
            </a:pPr>
            <a:r>
              <a:t>Approval 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3145536"/>
            <a:ext cx="8046720" cy="62179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A2A2A"/>
                </a:solidFill>
                <a:latin typeface="Calibri"/>
              </a:defRPr>
            </a:pPr>
            <a:r>
              <a:t>SaMD pathways, AI-specific guidance, regulatory sandboxes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7328"/>
            <a:ext cx="2926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2A2A2A"/>
                </a:solidFill>
                <a:latin typeface="Calibri"/>
              </a:defRPr>
            </a:pPr>
            <a:r>
              <a:t>Transparency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767328"/>
            <a:ext cx="8046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A2A2A"/>
                </a:solidFill>
                <a:latin typeface="Calibri"/>
              </a:defRPr>
            </a:pPr>
            <a:r>
              <a:t>Explainability expectations, documentation, clinician intelligibility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2926080" cy="62179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2A2A2A"/>
                </a:solidFill>
                <a:latin typeface="Calibri"/>
              </a:defRPr>
            </a:pPr>
            <a:r>
              <a:t>Ethics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389120"/>
            <a:ext cx="8046720" cy="62179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A2A2A"/>
                </a:solidFill>
                <a:latin typeface="Calibri"/>
              </a:defRPr>
            </a:pPr>
            <a:r>
              <a:t>National AI ethics frameworks, fairness, human oversight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10912"/>
            <a:ext cx="2926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2A2A2A"/>
                </a:solidFill>
                <a:latin typeface="Calibri"/>
              </a:defRPr>
            </a:pPr>
            <a:r>
              <a:t>Post-Market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5010912"/>
            <a:ext cx="8046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A2A2A"/>
                </a:solidFill>
                <a:latin typeface="Calibri"/>
              </a:defRPr>
            </a:pPr>
            <a:r>
              <a:t>Adverse-event reporting, lifecycle monitoring, update 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32704"/>
            <a:ext cx="2926080" cy="62179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2A2A2A"/>
                </a:solidFill>
                <a:latin typeface="Calibri"/>
              </a:defRPr>
            </a:pPr>
            <a:r>
              <a:t>Liability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5632704"/>
            <a:ext cx="8046720" cy="62179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A2A2A"/>
                </a:solidFill>
                <a:latin typeface="Calibri"/>
              </a:defRPr>
            </a:pPr>
            <a:r>
              <a:t>Product liability, malpractice interfaces, AI-specific proposals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Maturity classes  -  definitions (not a formula on overall score)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554480" cy="658368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280160"/>
            <a:ext cx="5486400" cy="658368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280160"/>
            <a:ext cx="3474720" cy="658368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27080" y="1280160"/>
            <a:ext cx="822960" cy="658368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38528"/>
            <a:ext cx="15544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2A2A2A"/>
                </a:solidFill>
                <a:latin typeface="Calibri"/>
              </a:defRPr>
            </a:pPr>
            <a:r>
              <a:t>Early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938528"/>
            <a:ext cx="54864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Limited AI-specific healthcare rules; few approvals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938528"/>
            <a:ext cx="347472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Nigeria, Kenya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27080" y="1938528"/>
            <a:ext cx="82296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96896"/>
            <a:ext cx="1554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2A2A2A"/>
                </a:solidFill>
                <a:latin typeface="Calibri"/>
              </a:defRPr>
            </a:pPr>
            <a:r>
              <a:t>Emerging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596896"/>
            <a:ext cx="5486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Privacy/ethics exist; SaMD pathway still forming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2596896"/>
            <a:ext cx="34747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Saudi Arabia, South Africa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27080" y="2596896"/>
            <a:ext cx="8229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55264"/>
            <a:ext cx="15544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2A2A2A"/>
                </a:solidFill>
                <a:latin typeface="Calibri"/>
              </a:defRPr>
            </a:pPr>
            <a:r>
              <a:t>Developing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3255264"/>
            <a:ext cx="54864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Device framework + emerging AI guidance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3255264"/>
            <a:ext cx="347472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India, Brazil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27080" y="3255264"/>
            <a:ext cx="82296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13632"/>
            <a:ext cx="1554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2A2A2A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3913632"/>
            <a:ext cx="5486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Working SaMD registration &amp; post-market 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3913632"/>
            <a:ext cx="34747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Australia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27080" y="3913632"/>
            <a:ext cx="8229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572000"/>
            <a:ext cx="15544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4572000"/>
            <a:ext cx="54864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Dedicated AI/ML SaMD or high-risk AI law + lifecycle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4572000"/>
            <a:ext cx="347472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US, EU, Japan, Singapore…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27080" y="4572000"/>
            <a:ext cx="822960" cy="658368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A2A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Maturity is assigned from documentary evidence (AI rules, device pathway, approval activity, privacy/ethics enforcement). Device risk class (FDA I-III) describes the product; maturity describes the country.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Figure: overall country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pic>
        <p:nvPicPr>
          <p:cNvPr id="8" name="Picture 7" descr="overall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88720"/>
            <a:ext cx="8869680" cy="67222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Mean of seven theme scores. EU / United States lead; Kenya and Nigeria trail  -  capacity gap at a glance.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Figures: theme averages and inter-country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pic>
        <p:nvPicPr>
          <p:cNvPr id="8" name="Picture 7" descr="theme_aver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669280" cy="2959672"/>
          </a:xfrm>
          <a:prstGeom prst="rect">
            <a:avLst/>
          </a:prstGeom>
        </p:spPr>
      </p:pic>
      <p:pic>
        <p:nvPicPr>
          <p:cNvPr id="9" name="Picture 8" descr="theme_g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669280" cy="2959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Left: worldwide average maturity by theme (approval &amp; privacy lead; post-market &amp; liability lag). Right: Gap = max − min score  -  large gaps mean strong divergence.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Figures: maturity mix and regional 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pic>
        <p:nvPicPr>
          <p:cNvPr id="8" name="Picture 7" descr="maturit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303520" cy="4487594"/>
          </a:xfrm>
          <a:prstGeom prst="rect">
            <a:avLst/>
          </a:prstGeom>
        </p:spPr>
      </p:pic>
      <p:pic>
        <p:nvPicPr>
          <p:cNvPr id="9" name="Picture 8" descr="regional_over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760720" cy="300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Advanced slice is large because the sample includes major regulators. Europe leads regional means; Africa is lowest.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Figures: peer comparison and top-5 radar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pic>
        <p:nvPicPr>
          <p:cNvPr id="8" name="Picture 7" descr="pe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400800" cy="3390506"/>
          </a:xfrm>
          <a:prstGeom prst="rect">
            <a:avLst/>
          </a:prstGeom>
        </p:spPr>
      </p:pic>
      <p:pic>
        <p:nvPicPr>
          <p:cNvPr id="9" name="Picture 8" descr="radar_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5029200" cy="43589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US/EU lead most themes; India and South Africa lag on validation, post-market, and liability. Radar shape shows theme strengths differ even among top scorers.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Table: country compliance scores (top 12 + bottom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01168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Country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143000"/>
            <a:ext cx="86868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Overall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43000"/>
            <a:ext cx="77724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1143000"/>
            <a:ext cx="77724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143000"/>
            <a:ext cx="77724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143000"/>
            <a:ext cx="77724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43000"/>
            <a:ext cx="77724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1143000"/>
            <a:ext cx="77724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143000"/>
            <a:ext cx="77724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Liab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1143000"/>
            <a:ext cx="1371600" cy="301752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Maturity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444752"/>
            <a:ext cx="2011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European Union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1444752"/>
            <a:ext cx="868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9.1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44475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40" y="144475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44475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144475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44475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144475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144475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1444752"/>
            <a:ext cx="137160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1746504"/>
            <a:ext cx="2011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United States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1746504"/>
            <a:ext cx="868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174650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40" y="174650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174650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174650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74650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174650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174650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1746504"/>
            <a:ext cx="13716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048256"/>
            <a:ext cx="2011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United Kingdom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2048256"/>
            <a:ext cx="868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04825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40" y="204825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204825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204825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204825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600" y="204825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204825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2048256"/>
            <a:ext cx="137160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350008"/>
            <a:ext cx="2011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Canada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31720" y="2350008"/>
            <a:ext cx="868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7.1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235000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77640" y="235000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235000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2120" y="235000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235000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235000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235000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41080" y="2350008"/>
            <a:ext cx="13716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2651760"/>
            <a:ext cx="2011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Japan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31720" y="2651760"/>
            <a:ext cx="868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265176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7640" y="265176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80" y="265176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265176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265176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86600" y="265176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265176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41080" y="2651760"/>
            <a:ext cx="137160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2953512"/>
            <a:ext cx="2011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Singapore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31720" y="2953512"/>
            <a:ext cx="868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6.9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2953512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77640" y="2953512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80" y="2953512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32120" y="2953512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0" y="2953512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86600" y="2953512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2953512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41080" y="2953512"/>
            <a:ext cx="13716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255264"/>
            <a:ext cx="2011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Switzerland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31720" y="3255264"/>
            <a:ext cx="868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6.9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3255264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77640" y="3255264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0" y="3255264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3255264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3255264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86600" y="3255264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63840" y="3255264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41080" y="3255264"/>
            <a:ext cx="137160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3557016"/>
            <a:ext cx="2011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China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31720" y="3557016"/>
            <a:ext cx="868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6.7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3557016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77640" y="3557016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54880" y="3557016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32120" y="3557016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60" y="3557016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6600" y="3557016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863840" y="3557016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3557016"/>
            <a:ext cx="13716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" y="3858768"/>
            <a:ext cx="2011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Australia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31720" y="3858768"/>
            <a:ext cx="868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6.6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0" y="3858768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77640" y="3858768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54880" y="3858768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532120" y="3858768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58768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086600" y="3858768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63840" y="3858768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41080" y="3858768"/>
            <a:ext cx="137160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4160520"/>
            <a:ext cx="2011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South Korea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331720" y="4160520"/>
            <a:ext cx="868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6.6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200400" y="4160520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977640" y="4160520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54880" y="4160520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532120" y="4160520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309360" y="4160520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86600" y="4160520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863840" y="4160520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41080" y="4160520"/>
            <a:ext cx="13716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4462272"/>
            <a:ext cx="2011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Israel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331720" y="4462272"/>
            <a:ext cx="868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6.3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00400" y="446227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977640" y="446227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54880" y="446227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532120" y="446227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09360" y="446227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086600" y="446227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863840" y="4462272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641080" y="4462272"/>
            <a:ext cx="137160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0040" y="4764024"/>
            <a:ext cx="2011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Brazil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331720" y="4764024"/>
            <a:ext cx="868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5.3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200400" y="476402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77640" y="476402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754880" y="476402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532120" y="476402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309360" y="476402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086600" y="476402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863840" y="4764024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41080" y="4764024"/>
            <a:ext cx="13716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Developing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20040" y="5065776"/>
            <a:ext cx="2011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South Africa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331720" y="5065776"/>
            <a:ext cx="868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3.6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00400" y="506577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977640" y="506577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754880" y="506577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532120" y="506577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309360" y="506577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086600" y="506577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863840" y="5065776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41080" y="5065776"/>
            <a:ext cx="137160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Emerging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20040" y="5367528"/>
            <a:ext cx="2011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Kenya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331720" y="5367528"/>
            <a:ext cx="8686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2.7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200400" y="536752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977640" y="536752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754880" y="536752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532120" y="536752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309360" y="536752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086600" y="536752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863840" y="5367528"/>
            <a:ext cx="77724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41080" y="5367528"/>
            <a:ext cx="1371600" cy="301752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Early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20040" y="5669280"/>
            <a:ext cx="2011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Nigeria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331720" y="5669280"/>
            <a:ext cx="86868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2.6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200400" y="566928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977640" y="566928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754880" y="566928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532120" y="566928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309360" y="566928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086600" y="566928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63840" y="5669280"/>
            <a:ext cx="77724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641080" y="5669280"/>
            <a:ext cx="1371600" cy="301752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Early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Headline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Sample: 19 jurisdictions · 7 themes · maturity distribution includes 10 Advanced and 2 Early.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Top overall: European Union (9.1), United States (7.6), United Kingdom (7.1).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Europe leads privacy/ethics/transparency; United States leads clinical validation and approval volume.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Asia is heterogeneous: Japan/Singapore/China Advanced; India/Thailand Developing.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Africa: South Africa Emerging; Kenya &amp; Nigeria Early  -  privacy statutes alone do not raise overall AI healthcare compliance.</a:t>
            </a:r>
          </a:p>
          <a:p>
            <a:pPr>
              <a:spcAft>
                <a:spcPts val="12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Weakest global pillars: post-market surveillance and liability (lifecycle &amp; accountability).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What we mean by gaps and convergence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94960" cy="47548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2A4D"/>
                </a:solidFill>
                <a:latin typeface="Calibri"/>
              </a:defRPr>
            </a:pPr>
            <a:r>
              <a:t>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Gap = max(country score) − min(country score) on one theme.</a:t>
            </a:r>
          </a:p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Large gap = divergence zone.</a:t>
            </a:r>
          </a:p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Useful for multi-country evidence strategy.</a:t>
            </a:r>
          </a:p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Widest gaps often: clinical validation &amp; transparency.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394960" cy="475488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2A4D"/>
                </a:solidFill>
                <a:latin typeface="Calibri"/>
              </a:defRPr>
            </a:pPr>
            <a:r>
              <a:t>Convergence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Not identical laws  -  shared principles &amp; tools.</a:t>
            </a:r>
          </a:p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Risk-based SaMD classification (IMDRF-style).</a:t>
            </a:r>
          </a:p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GDPR-like health-data protection.</a:t>
            </a:r>
          </a:p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GMLP / lifecycle / PCCP thinking.</a:t>
            </a:r>
          </a:p>
          <a:p>
            <a:pPr>
              <a:spcAft>
                <a:spcPts val="1000"/>
              </a:spcAft>
              <a:defRPr sz="1400">
                <a:solidFill>
                  <a:srgbClr val="2A2A2A"/>
                </a:solidFill>
                <a:latin typeface="Calibri"/>
              </a:defRPr>
            </a:pPr>
            <a:r>
              <a:t>Shift from voluntary ethics toward binding rules (e.g. EU AI Act).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Table: selected global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291840" cy="5029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234440"/>
            <a:ext cx="1097280" cy="5029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Adoption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914400" cy="5029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234440"/>
            <a:ext cx="5943600" cy="5029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Description (short)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29184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Convergence on Risk-Based Regulation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37360"/>
            <a:ext cx="109728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737360"/>
            <a:ext cx="91440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2017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737360"/>
            <a:ext cx="594360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Most jurisdictions adopting risk-based classification of AI medical de…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Comprehensive Data Protection Laws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24028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24028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2018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240280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Post-GDPR wave of national data protection laws with health data as se…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43200"/>
            <a:ext cx="329184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AI-Specific Legislation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2743200"/>
            <a:ext cx="109728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743200"/>
            <a:ext cx="91440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2021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743200"/>
            <a:ext cx="594360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Growing trend toward dedicated AI laws (EU AI Act leading, followed by…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4612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International Harmonization Efforts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24612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24612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2019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246120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IMDRF, GMLP (FDA-Health Canada-MHRA), and WHO guidance driving converg…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49040"/>
            <a:ext cx="329184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Ethical AI Frameworks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3749040"/>
            <a:ext cx="109728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749040"/>
            <a:ext cx="91440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2018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749040"/>
            <a:ext cx="594360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Proliferation of national AI ethics principles, mostly voluntary, incr…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5196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Regulatory Sandboxes for Health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42519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425196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4251960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Controlled testing environments for innovative AI devices before full 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54880"/>
            <a:ext cx="329184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Real-World Evidence Acceptance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4754880"/>
            <a:ext cx="109728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4754880"/>
            <a:ext cx="91440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2019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4754880"/>
            <a:ext cx="5943600" cy="502920"/>
          </a:xfrm>
          <a:prstGeom prst="rect">
            <a:avLst/>
          </a:prstGeom>
          <a:solidFill>
            <a:srgbClr val="F2F4F7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Growing regulatory acceptance of real-world data and evidence for AI d…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25780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2A2A2A"/>
                </a:solidFill>
                <a:latin typeface="Calibri"/>
              </a:defRPr>
            </a:pPr>
            <a:r>
              <a:t>Adaptive Algorithm 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525780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5257800"/>
            <a:ext cx="914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2021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5257800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A2A2A"/>
                </a:solidFill>
                <a:latin typeface="Calibri"/>
              </a:defRPr>
            </a:pPr>
            <a:r>
              <a:t>Frameworks for managing continuously learning AI systems (e.g., FDA Pr…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Interactive dashboard artefact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Public web app (React + TypeScript + Recharts + maps), hosted on GitHub Pages.</a:t>
            </a:r>
          </a:p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Tabs: Overview · Theme Analysis · Comparison · Trends &amp; Use Cases · Country Detail · Literature.</a:t>
            </a:r>
          </a:p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Filters by region, maturity, and themes recalculate overall scores and gaps instantly.</a:t>
            </a:r>
          </a:p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Live URL: https://remi7025.github.io/AI-Healthcare-Compliance-Dashboard/</a:t>
            </a:r>
          </a:p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Canonical data: data/compliance_dataset.json (same source as this presentation's tables).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Future impact  -  how this work helps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For developers: choose first markets by theme strength (e.g. validation-heavy imaging → US/EU).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For policymakers: see where gaps are largest (validation, post-market, liability) and prioritise capacity building.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For researchers &amp; students: reproducible open dataset + dashboard for teaching comparative AI governance.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For hospitals/clinics: link use-case readiness (radiology, genomics…) to local regulatory maturity.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Future upgrades: live regulatory feeds, Delphi expert scoring, more Latin America &amp; African regulators,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and a dedicated evaluation track for foundation-model medical products.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Net effect: faster, safer, more transparent market access decisions and clearer reform priorities.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Recommendations (synthesised from WHO, IMDRF, GMLP, EU AI Act, NIST, literature)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1. Expand IMDRF/WHO coordination on AI-specific clinical-evidence methods.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2. Build regulatory capacity in developing countries (technical assistance, mutual-recognition pilots).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3. Operationalise ethics through measurable fairness, monitoring, and documentation standards.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4. Update liability frameworks before harm cases proliferate.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5. Maintain public dashboards and open datasets for transparent comparative research.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6. Treat foundation-model medical products as a dedicated evaluation track.</a:t>
            </a:r>
          </a:p>
          <a:p>
            <a:pPr>
              <a:spcAft>
                <a:spcPts val="1100"/>
              </a:spcAft>
              <a:defRPr sz="1500">
                <a:solidFill>
                  <a:srgbClr val="2A2A2A"/>
                </a:solidFill>
                <a:latin typeface="Calibri"/>
              </a:defRPr>
            </a:pPr>
            <a:r>
              <a:t>Note: recommendations are a synthesis of the evidence base  -  not a new Delphi survey.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AI Clinic  |  aivancity  |  AI Healthcare Compliance Across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Scores are expert documentary syntheses and will drift as laws change.</a:t>
            </a:r>
          </a:p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Device-approval counts are incomplete where agencies do not publish AI-specific tallies.</a:t>
            </a:r>
          </a:p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Sample over-represents Advanced jurisdictions relative to the true world map.</a:t>
            </a:r>
          </a:p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Oceania and South America regional means rest on single countries (Australia, Brazil).</a:t>
            </a:r>
          </a:p>
          <a:p>
            <a:pPr>
              <a:spcAft>
                <a:spcPts val="1400"/>
              </a:spcAft>
              <a:defRPr sz="1600">
                <a:solidFill>
                  <a:srgbClr val="2A2A2A"/>
                </a:solidFill>
                <a:latin typeface="Calibri"/>
              </a:defRPr>
            </a:pPr>
            <a:r>
              <a:t>This is academic decision support  -  not legal advice for market authorisation.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606040"/>
            <a:ext cx="3931920" cy="73152"/>
          </a:xfrm>
          <a:prstGeom prst="rect">
            <a:avLst/>
          </a:prstGeom>
          <a:solidFill>
            <a:srgbClr val="C5A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A045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Remi Uttejitha ALLAM  ·  Baptiste Langlois  ·  Tong Li  ·  Darryl Towa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8B8D0"/>
                </a:solidFill>
                <a:latin typeface="Calibri"/>
              </a:defRPr>
            </a:pPr>
            <a:r>
              <a:t>Supervisor: Dr. Anuradha Kar  |  aivancity School for Technology, Business &amp; Society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C0"/>
                </a:solidFill>
                <a:latin typeface="Calibri"/>
              </a:defRPr>
            </a:pPr>
            <a:r>
              <a:t>Dashboard: remi7025.github.io/AI-Healthcare-Compliance-Dashboard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